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Sentinel — an autonomous authorization-research agent for the AI Kavach challenge. You give it a live target and a cycle budget, and it recons, hypothesizes, and probes on its own, showing its reasoning the whole way. The north star is a disciplined pipeline: find, then reason, then prove — never shortcutting a raw response into a vulnerability claim.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scanners pattern-match and treat any 200 as a hit, which buries teams in false positives — and authorization flaws are exactly the class that signatures miss. Sentinel instead builds a graph of the surface, forms conservative hypotheses that are explicitly 'not yet a vulnerability,' and tests each one. A finding requires a reproduced contradiction against explicit policy, so credibility is built into the epistemics.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answer to 'isn't it just an LLM wrapper?' The engine scores candidates with a transparent, self-adapting formula — information gain decays as attempts repeat, so it visibly pivots off exhausted leads. The local model is consulted only when candidates tie at the top, and it picks by list index that we map back to a real id, so it can't hallucinate a target or override a higher score. Everything shows up on the decision board as auditable provenance.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it's a clean data flow: recon feeds a security graph, hypotheses are seeded from it, and each cycle deterministically scores candidates, consults the bounded advisor on ties, then fires one scope-checked probe. Observations are structured facts with provenance back to the evidence, and only the deterministic judge can promote a hypothesis to confirmed. Refinement closes the loop, turning bare candidates into testable contradictions.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structural: every probe is refused before a socket opens unless it's in scope, and the stages are separated so nothing both acts and judges. Being honest with the judges: the find-and-rank half runs live end-to-end today, while the reason-and-prove subsystem is fully built but not yet reachable autonomously — a scoped bootstrap gap that's our very next milestone. That candor, plus autonomous auditable reasoning, is exactly the AI Kavach spirit, and the road ahead adds remediation to complete the loop.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g_title.png"/>
          <p:cNvPicPr>
            <a:picLocks noChangeAspect="1"/>
          </p:cNvPicPr>
          <p:nvPr/>
        </p:nvPicPr>
        <p:blipFill>
          <a:blip r:embed="rId2"/>
          <a:stretch>
            <a:fillRect/>
          </a:stretch>
        </p:blipFill>
        <p:spPr>
          <a:xfrm>
            <a:off x="0" y="0"/>
            <a:ext cx="12191695" cy="6858000"/>
          </a:xfrm>
          <a:prstGeom prst="rect">
            <a:avLst/>
          </a:prstGeom>
        </p:spPr>
      </p:pic>
      <p:pic>
        <p:nvPicPr>
          <p:cNvPr id="3" name="Picture 2" descr="sentinel_logo_transparent.png"/>
          <p:cNvPicPr>
            <a:picLocks noChangeAspect="1"/>
          </p:cNvPicPr>
          <p:nvPr/>
        </p:nvPicPr>
        <p:blipFill>
          <a:blip r:embed="rId3"/>
          <a:stretch>
            <a:fillRect/>
          </a:stretch>
        </p:blipFill>
        <p:spPr>
          <a:xfrm>
            <a:off x="1889607" y="1417320"/>
            <a:ext cx="8412480" cy="2298733"/>
          </a:xfrm>
          <a:prstGeom prst="rect">
            <a:avLst/>
          </a:prstGeom>
        </p:spPr>
      </p:pic>
      <p:sp>
        <p:nvSpPr>
          <p:cNvPr id="4" name="TextBox 3"/>
          <p:cNvSpPr txBox="1"/>
          <p:nvPr/>
        </p:nvSpPr>
        <p:spPr>
          <a:xfrm>
            <a:off x="1371600" y="3853213"/>
            <a:ext cx="9448495" cy="548640"/>
          </a:xfrm>
          <a:prstGeom prst="rect">
            <a:avLst/>
          </a:prstGeom>
          <a:noFill/>
        </p:spPr>
        <p:txBody>
          <a:bodyPr wrap="square" anchor="t" lIns="0" rIns="0" tIns="0" bIns="0">
            <a:spAutoFit/>
          </a:bodyPr>
          <a:lstStyle/>
          <a:p>
            <a:pPr algn="ctr"/>
            <a:r>
              <a:rPr sz="1900" b="0">
                <a:solidFill>
                  <a:srgbClr val="22D3EE"/>
                </a:solidFill>
                <a:latin typeface="Consolas"/>
              </a:rPr>
              <a:t>Autonomous authorization research  —  find → reason → prove</a:t>
            </a:r>
          </a:p>
        </p:txBody>
      </p:sp>
      <p:sp>
        <p:nvSpPr>
          <p:cNvPr id="5" name="TextBox 4"/>
          <p:cNvSpPr txBox="1"/>
          <p:nvPr/>
        </p:nvSpPr>
        <p:spPr>
          <a:xfrm>
            <a:off x="1737360" y="4447573"/>
            <a:ext cx="8716975" cy="2011680"/>
          </a:xfrm>
          <a:prstGeom prst="rect">
            <a:avLst/>
          </a:prstGeom>
          <a:noFill/>
        </p:spPr>
        <p:txBody>
          <a:bodyPr wrap="square" anchor="t" lIns="0" rIns="0" tIns="0" bIns="0">
            <a:spAutoFit/>
          </a:bodyPr>
          <a:lstStyle/>
          <a:p>
            <a:pPr algn="ctr">
              <a:spcAft>
                <a:spcPts val="700"/>
              </a:spcAft>
            </a:pPr>
            <a:r>
              <a:rPr sz="1500" b="0">
                <a:solidFill>
                  <a:srgbClr val="C4D2E4"/>
                </a:solidFill>
                <a:latin typeface="Segoe UI"/>
              </a:rPr>
              <a:t>Local-first AI cyber-reasoning agent for live targets</a:t>
            </a:r>
          </a:p>
          <a:p>
            <a:pPr algn="ctr">
              <a:spcAft>
                <a:spcPts val="700"/>
              </a:spcAft>
            </a:pPr>
            <a:r>
              <a:rPr sz="1500" b="0">
                <a:solidFill>
                  <a:srgbClr val="C4D2E4"/>
                </a:solidFill>
                <a:latin typeface="Segoe UI"/>
              </a:rPr>
              <a:t>Point it at any HTTP target; it runs itself</a:t>
            </a:r>
          </a:p>
          <a:p>
            <a:pPr algn="ctr">
              <a:spcAft>
                <a:spcPts val="700"/>
              </a:spcAft>
            </a:pPr>
            <a:r>
              <a:rPr sz="1500" b="0">
                <a:solidFill>
                  <a:srgbClr val="C4D2E4"/>
                </a:solidFill>
                <a:latin typeface="Segoe UI"/>
              </a:rPr>
              <a:t>Evidence-driven: a status code is never a verdict</a:t>
            </a:r>
          </a:p>
          <a:p>
            <a:pPr algn="ctr">
              <a:spcAft>
                <a:spcPts val="700"/>
              </a:spcAft>
            </a:pPr>
            <a:r>
              <a:rPr sz="1500" b="0">
                <a:solidFill>
                  <a:srgbClr val="C4D2E4"/>
                </a:solidFill>
                <a:latin typeface="Segoe UI"/>
              </a:rPr>
              <a:t>Every decision explainable and auditable</a:t>
            </a:r>
          </a:p>
          <a:p>
            <a:pPr algn="ctr">
              <a:spcAft>
                <a:spcPts val="700"/>
              </a:spcAft>
            </a:pPr>
            <a:r>
              <a:rPr sz="1500" b="0">
                <a:solidFill>
                  <a:srgbClr val="C4D2E4"/>
                </a:solidFill>
                <a:latin typeface="Segoe UI"/>
              </a:rPr>
              <a:t>Target-agnostic engine — zero target-specific code</a:t>
            </a:r>
          </a:p>
        </p:txBody>
      </p:sp>
      <p:sp>
        <p:nvSpPr>
          <p:cNvPr id="6" name="TextBox 5"/>
          <p:cNvSpPr txBox="1"/>
          <p:nvPr/>
        </p:nvSpPr>
        <p:spPr>
          <a:xfrm>
            <a:off x="0" y="6263640"/>
            <a:ext cx="12191695" cy="457200"/>
          </a:xfrm>
          <a:prstGeom prst="rect">
            <a:avLst/>
          </a:prstGeom>
          <a:noFill/>
        </p:spPr>
        <p:txBody>
          <a:bodyPr wrap="square" anchor="t" lIns="0" rIns="0" tIns="0" bIns="0">
            <a:spAutoFit/>
          </a:bodyPr>
          <a:lstStyle/>
          <a:p>
            <a:pPr algn="ctr"/>
            <a:r>
              <a:rPr sz="1100" b="1">
                <a:solidFill>
                  <a:srgbClr val="6B7A90"/>
                </a:solidFill>
                <a:latin typeface="Consolas"/>
              </a:rPr>
              <a:t>AI KAVACH CHALLENGE  ·  AUTONOMOUS CYBER-REASONING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g.png"/>
          <p:cNvPicPr>
            <a:picLocks noChangeAspect="1"/>
          </p:cNvPicPr>
          <p:nvPr/>
        </p:nvPicPr>
        <p:blipFill>
          <a:blip r:embed="rId2"/>
          <a:stretch>
            <a:fillRect/>
          </a:stretch>
        </p:blipFill>
        <p:spPr>
          <a:xfrm>
            <a:off x="0" y="0"/>
            <a:ext cx="12191695" cy="6858000"/>
          </a:xfrm>
          <a:prstGeom prst="rect">
            <a:avLst/>
          </a:prstGeom>
        </p:spPr>
      </p:pic>
      <p:pic>
        <p:nvPicPr>
          <p:cNvPr id="3" name="Picture 2" descr="sentinel_mark.png"/>
          <p:cNvPicPr>
            <a:picLocks noChangeAspect="1"/>
          </p:cNvPicPr>
          <p:nvPr/>
        </p:nvPicPr>
        <p:blipFill>
          <a:blip r:embed="rId3"/>
          <a:stretch>
            <a:fillRect/>
          </a:stretch>
        </p:blipFill>
        <p:spPr>
          <a:xfrm>
            <a:off x="566928" y="457200"/>
            <a:ext cx="749808" cy="749808"/>
          </a:xfrm>
          <a:prstGeom prst="rect">
            <a:avLst/>
          </a:prstGeom>
        </p:spPr>
      </p:pic>
      <p:sp>
        <p:nvSpPr>
          <p:cNvPr id="4" name="Rounded Rectangle 3"/>
          <p:cNvSpPr/>
          <p:nvPr/>
        </p:nvSpPr>
        <p:spPr>
          <a:xfrm>
            <a:off x="10195560" y="457200"/>
            <a:ext cx="1554480" cy="384048"/>
          </a:xfrm>
          <a:prstGeom prst="roundRect">
            <a:avLst/>
          </a:prstGeom>
          <a:no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2D3EE"/>
                </a:solidFill>
                <a:latin typeface="Consolas"/>
              </a:rPr>
              <a:t>AI KAVACH</a:t>
            </a:r>
          </a:p>
        </p:txBody>
      </p:sp>
      <p:sp>
        <p:nvSpPr>
          <p:cNvPr id="5" name="TextBox 4"/>
          <p:cNvSpPr txBox="1"/>
          <p:nvPr/>
        </p:nvSpPr>
        <p:spPr>
          <a:xfrm>
            <a:off x="1508760" y="475488"/>
            <a:ext cx="8503920" cy="1051560"/>
          </a:xfrm>
          <a:prstGeom prst="rect">
            <a:avLst/>
          </a:prstGeom>
          <a:noFill/>
        </p:spPr>
        <p:txBody>
          <a:bodyPr wrap="square" anchor="ctr" lIns="0" rIns="0" tIns="0" bIns="0">
            <a:spAutoFit/>
          </a:bodyPr>
          <a:lstStyle/>
          <a:p>
            <a:r>
              <a:rPr sz="3300" b="1">
                <a:solidFill>
                  <a:srgbClr val="EAF2FF"/>
                </a:solidFill>
                <a:latin typeface="Consolas"/>
              </a:rPr>
              <a:t>Scanners Guess. Sentinel Reasons.</a:t>
            </a:r>
          </a:p>
        </p:txBody>
      </p:sp>
      <p:pic>
        <p:nvPicPr>
          <p:cNvPr id="6" name="Picture 5" descr="deck_rule.png"/>
          <p:cNvPicPr>
            <a:picLocks noChangeAspect="1"/>
          </p:cNvPicPr>
          <p:nvPr/>
        </p:nvPicPr>
        <p:blipFill>
          <a:blip r:embed="rId4"/>
          <a:stretch>
            <a:fillRect/>
          </a:stretch>
        </p:blipFill>
        <p:spPr>
          <a:xfrm>
            <a:off x="640080" y="1664208"/>
            <a:ext cx="3108960" cy="56692"/>
          </a:xfrm>
          <a:prstGeom prst="rect">
            <a:avLst/>
          </a:prstGeom>
        </p:spPr>
      </p:pic>
      <p:sp>
        <p:nvSpPr>
          <p:cNvPr id="7" name="TextBox 6"/>
          <p:cNvSpPr txBox="1"/>
          <p:nvPr/>
        </p:nvSpPr>
        <p:spPr>
          <a:xfrm>
            <a:off x="658368" y="1847088"/>
            <a:ext cx="10881360" cy="548640"/>
          </a:xfrm>
          <a:prstGeom prst="rect">
            <a:avLst/>
          </a:prstGeom>
          <a:noFill/>
        </p:spPr>
        <p:txBody>
          <a:bodyPr wrap="square" anchor="t" lIns="0" rIns="0" tIns="0" bIns="0">
            <a:spAutoFit/>
          </a:bodyPr>
          <a:lstStyle/>
          <a:p>
            <a:r>
              <a:rPr sz="1700" b="0">
                <a:solidFill>
                  <a:srgbClr val="22D3EE"/>
                </a:solidFill>
                <a:latin typeface="Consolas"/>
              </a:rPr>
              <a:t>From noisy 200s to justified, tested claims</a:t>
            </a:r>
          </a:p>
        </p:txBody>
      </p:sp>
      <p:sp>
        <p:nvSpPr>
          <p:cNvPr id="8" name="TextBox 7"/>
          <p:cNvSpPr txBox="1"/>
          <p:nvPr/>
        </p:nvSpPr>
        <p:spPr>
          <a:xfrm>
            <a:off x="713232" y="2697480"/>
            <a:ext cx="10789920" cy="3383280"/>
          </a:xfrm>
          <a:prstGeom prst="rect">
            <a:avLst/>
          </a:prstGeom>
          <a:noFill/>
        </p:spPr>
        <p:txBody>
          <a:bodyPr wrap="square" anchor="t" lIns="0" rIns="0" tIns="0" bIns="0">
            <a:spAutoFit/>
          </a:bodyPr>
          <a:lstStyle/>
          <a:p>
            <a:pPr>
              <a:spcAft>
                <a:spcPts val="1500"/>
              </a:spcAft>
            </a:pPr>
            <a:r>
              <a:rPr sz="1900" b="1">
                <a:solidFill>
                  <a:srgbClr val="22D3EE"/>
                </a:solidFill>
                <a:latin typeface="Segoe UI"/>
              </a:rPr>
              <a:t>»  </a:t>
            </a:r>
            <a:r>
              <a:rPr sz="1900" b="0">
                <a:solidFill>
                  <a:srgbClr val="C4D2E4"/>
                </a:solidFill>
                <a:latin typeface="Segoe UI"/>
              </a:rPr>
              <a:t>Traditional scanners flag 200s — false-positive noise</a:t>
            </a:r>
          </a:p>
          <a:p>
            <a:pPr>
              <a:spcAft>
                <a:spcPts val="1500"/>
              </a:spcAft>
            </a:pPr>
            <a:r>
              <a:rPr sz="1900" b="1">
                <a:solidFill>
                  <a:srgbClr val="22D3EE"/>
                </a:solidFill>
                <a:latin typeface="Segoe UI"/>
              </a:rPr>
              <a:t>»  </a:t>
            </a:r>
            <a:r>
              <a:rPr sz="1900" b="0">
                <a:solidFill>
                  <a:srgbClr val="C4D2E4"/>
                </a:solidFill>
                <a:latin typeface="Segoe UI"/>
              </a:rPr>
              <a:t>Authorization bugs need context, not signatures</a:t>
            </a:r>
          </a:p>
          <a:p>
            <a:pPr>
              <a:spcAft>
                <a:spcPts val="1500"/>
              </a:spcAft>
            </a:pPr>
            <a:r>
              <a:rPr sz="1900" b="1">
                <a:solidFill>
                  <a:srgbClr val="22D3EE"/>
                </a:solidFill>
                <a:latin typeface="Segoe UI"/>
              </a:rPr>
              <a:t>»  </a:t>
            </a:r>
            <a:r>
              <a:rPr sz="1900" b="0">
                <a:solidFill>
                  <a:srgbClr val="C4D2E4"/>
                </a:solidFill>
                <a:latin typeface="Segoe UI"/>
              </a:rPr>
              <a:t>Sentinel: recon → hypotheses → adaptive research cycles</a:t>
            </a:r>
          </a:p>
          <a:p>
            <a:pPr>
              <a:spcAft>
                <a:spcPts val="1500"/>
              </a:spcAft>
            </a:pPr>
            <a:r>
              <a:rPr sz="1900" b="1">
                <a:solidFill>
                  <a:srgbClr val="22D3EE"/>
                </a:solidFill>
                <a:latin typeface="Segoe UI"/>
              </a:rPr>
              <a:t>»  </a:t>
            </a:r>
            <a:r>
              <a:rPr sz="1900" b="0">
                <a:solidFill>
                  <a:srgbClr val="C4D2E4"/>
                </a:solidFill>
                <a:latin typeface="Segoe UI"/>
              </a:rPr>
              <a:t>Find, reason, and prove are separate stages</a:t>
            </a:r>
          </a:p>
          <a:p>
            <a:pPr>
              <a:spcAft>
                <a:spcPts val="1500"/>
              </a:spcAft>
            </a:pPr>
            <a:r>
              <a:rPr sz="1900" b="1">
                <a:solidFill>
                  <a:srgbClr val="22D3EE"/>
                </a:solidFill>
                <a:latin typeface="Segoe UI"/>
              </a:rPr>
              <a:t>»  </a:t>
            </a:r>
            <a:r>
              <a:rPr sz="1900" b="0">
                <a:solidFill>
                  <a:srgbClr val="C4D2E4"/>
                </a:solidFill>
                <a:latin typeface="Segoe UI"/>
              </a:rPr>
              <a:t>Only reproduced policy contradictions become findings</a:t>
            </a:r>
          </a:p>
        </p:txBody>
      </p:sp>
      <p:sp>
        <p:nvSpPr>
          <p:cNvPr id="9" name="TextBox 8"/>
          <p:cNvSpPr txBox="1"/>
          <p:nvPr/>
        </p:nvSpPr>
        <p:spPr>
          <a:xfrm>
            <a:off x="566928" y="6382512"/>
            <a:ext cx="8229600" cy="365760"/>
          </a:xfrm>
          <a:prstGeom prst="rect">
            <a:avLst/>
          </a:prstGeom>
          <a:noFill/>
        </p:spPr>
        <p:txBody>
          <a:bodyPr wrap="square" anchor="t" lIns="0" rIns="0" tIns="0" bIns="0">
            <a:spAutoFit/>
          </a:bodyPr>
          <a:lstStyle/>
          <a:p>
            <a:r>
              <a:rPr sz="1000" b="1">
                <a:solidFill>
                  <a:srgbClr val="22D3EE"/>
                </a:solidFill>
                <a:latin typeface="Consolas"/>
              </a:rPr>
              <a:t>SENTINEL</a:t>
            </a:r>
            <a:r>
              <a:rPr sz="1000" b="0">
                <a:solidFill>
                  <a:srgbClr val="6B7A90"/>
                </a:solidFill>
                <a:latin typeface="Consolas"/>
              </a:rPr>
              <a:t>   ·   find → reason → prove</a:t>
            </a:r>
          </a:p>
        </p:txBody>
      </p:sp>
      <p:sp>
        <p:nvSpPr>
          <p:cNvPr id="10" name="TextBox 9"/>
          <p:cNvSpPr txBox="1"/>
          <p:nvPr/>
        </p:nvSpPr>
        <p:spPr>
          <a:xfrm>
            <a:off x="10789920" y="6382512"/>
            <a:ext cx="914400" cy="365760"/>
          </a:xfrm>
          <a:prstGeom prst="rect">
            <a:avLst/>
          </a:prstGeom>
          <a:noFill/>
        </p:spPr>
        <p:txBody>
          <a:bodyPr wrap="square" anchor="t" lIns="0" rIns="0" tIns="0" bIns="0">
            <a:spAutoFit/>
          </a:bodyPr>
          <a:lstStyle/>
          <a:p>
            <a:pPr algn="r"/>
            <a:r>
              <a:rPr sz="1000" b="0">
                <a:solidFill>
                  <a:srgbClr val="6B7A90"/>
                </a:solidFill>
                <a:latin typeface="Consolas"/>
              </a:rPr>
              <a:t>02 / 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g.png"/>
          <p:cNvPicPr>
            <a:picLocks noChangeAspect="1"/>
          </p:cNvPicPr>
          <p:nvPr/>
        </p:nvPicPr>
        <p:blipFill>
          <a:blip r:embed="rId2"/>
          <a:stretch>
            <a:fillRect/>
          </a:stretch>
        </p:blipFill>
        <p:spPr>
          <a:xfrm>
            <a:off x="0" y="0"/>
            <a:ext cx="12191695" cy="6858000"/>
          </a:xfrm>
          <a:prstGeom prst="rect">
            <a:avLst/>
          </a:prstGeom>
        </p:spPr>
      </p:pic>
      <p:pic>
        <p:nvPicPr>
          <p:cNvPr id="3" name="Picture 2" descr="sentinel_mark.png"/>
          <p:cNvPicPr>
            <a:picLocks noChangeAspect="1"/>
          </p:cNvPicPr>
          <p:nvPr/>
        </p:nvPicPr>
        <p:blipFill>
          <a:blip r:embed="rId3"/>
          <a:stretch>
            <a:fillRect/>
          </a:stretch>
        </p:blipFill>
        <p:spPr>
          <a:xfrm>
            <a:off x="566928" y="457200"/>
            <a:ext cx="749808" cy="749808"/>
          </a:xfrm>
          <a:prstGeom prst="rect">
            <a:avLst/>
          </a:prstGeom>
        </p:spPr>
      </p:pic>
      <p:sp>
        <p:nvSpPr>
          <p:cNvPr id="4" name="Rounded Rectangle 3"/>
          <p:cNvSpPr/>
          <p:nvPr/>
        </p:nvSpPr>
        <p:spPr>
          <a:xfrm>
            <a:off x="10195560" y="457200"/>
            <a:ext cx="1554480" cy="384048"/>
          </a:xfrm>
          <a:prstGeom prst="roundRect">
            <a:avLst/>
          </a:prstGeom>
          <a:no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2D3EE"/>
                </a:solidFill>
                <a:latin typeface="Consolas"/>
              </a:rPr>
              <a:t>AI KAVACH</a:t>
            </a:r>
          </a:p>
        </p:txBody>
      </p:sp>
      <p:sp>
        <p:nvSpPr>
          <p:cNvPr id="5" name="TextBox 4"/>
          <p:cNvSpPr txBox="1"/>
          <p:nvPr/>
        </p:nvSpPr>
        <p:spPr>
          <a:xfrm>
            <a:off x="1508760" y="475488"/>
            <a:ext cx="8503920" cy="1051560"/>
          </a:xfrm>
          <a:prstGeom prst="rect">
            <a:avLst/>
          </a:prstGeom>
          <a:noFill/>
        </p:spPr>
        <p:txBody>
          <a:bodyPr wrap="square" anchor="ctr" lIns="0" rIns="0" tIns="0" bIns="0">
            <a:spAutoFit/>
          </a:bodyPr>
          <a:lstStyle/>
          <a:p>
            <a:r>
              <a:rPr sz="3300" b="1">
                <a:solidFill>
                  <a:srgbClr val="EAF2FF"/>
                </a:solidFill>
                <a:latin typeface="Consolas"/>
              </a:rPr>
              <a:t>The Caged Advisor</a:t>
            </a:r>
          </a:p>
        </p:txBody>
      </p:sp>
      <p:pic>
        <p:nvPicPr>
          <p:cNvPr id="6" name="Picture 5" descr="deck_rule.png"/>
          <p:cNvPicPr>
            <a:picLocks noChangeAspect="1"/>
          </p:cNvPicPr>
          <p:nvPr/>
        </p:nvPicPr>
        <p:blipFill>
          <a:blip r:embed="rId4"/>
          <a:stretch>
            <a:fillRect/>
          </a:stretch>
        </p:blipFill>
        <p:spPr>
          <a:xfrm>
            <a:off x="640080" y="1664208"/>
            <a:ext cx="3108960" cy="56692"/>
          </a:xfrm>
          <a:prstGeom prst="rect">
            <a:avLst/>
          </a:prstGeom>
        </p:spPr>
      </p:pic>
      <p:sp>
        <p:nvSpPr>
          <p:cNvPr id="7" name="TextBox 6"/>
          <p:cNvSpPr txBox="1"/>
          <p:nvPr/>
        </p:nvSpPr>
        <p:spPr>
          <a:xfrm>
            <a:off x="658368" y="1847088"/>
            <a:ext cx="10881360" cy="548640"/>
          </a:xfrm>
          <a:prstGeom prst="rect">
            <a:avLst/>
          </a:prstGeom>
          <a:noFill/>
        </p:spPr>
        <p:txBody>
          <a:bodyPr wrap="square" anchor="t" lIns="0" rIns="0" tIns="0" bIns="0">
            <a:spAutoFit/>
          </a:bodyPr>
          <a:lstStyle/>
          <a:p>
            <a:r>
              <a:rPr sz="1700" b="0">
                <a:solidFill>
                  <a:srgbClr val="22D3EE"/>
                </a:solidFill>
                <a:latin typeface="Consolas"/>
              </a:rPr>
              <a:t>Smart adaptive selection — bounded advisory AI — full provenance</a:t>
            </a:r>
          </a:p>
        </p:txBody>
      </p:sp>
      <p:sp>
        <p:nvSpPr>
          <p:cNvPr id="8" name="TextBox 7"/>
          <p:cNvSpPr txBox="1"/>
          <p:nvPr/>
        </p:nvSpPr>
        <p:spPr>
          <a:xfrm>
            <a:off x="713232" y="2697480"/>
            <a:ext cx="10789920" cy="3383280"/>
          </a:xfrm>
          <a:prstGeom prst="rect">
            <a:avLst/>
          </a:prstGeom>
          <a:noFill/>
        </p:spPr>
        <p:txBody>
          <a:bodyPr wrap="square" anchor="t" lIns="0" rIns="0" tIns="0" bIns="0">
            <a:spAutoFit/>
          </a:bodyPr>
          <a:lstStyle/>
          <a:p>
            <a:pPr>
              <a:spcAft>
                <a:spcPts val="1500"/>
              </a:spcAft>
            </a:pPr>
            <a:r>
              <a:rPr sz="1900" b="1">
                <a:solidFill>
                  <a:srgbClr val="22D3EE"/>
                </a:solidFill>
                <a:latin typeface="Segoe UI"/>
              </a:rPr>
              <a:t>»  </a:t>
            </a:r>
            <a:r>
              <a:rPr sz="1900" b="0">
                <a:solidFill>
                  <a:srgbClr val="C4D2E4"/>
                </a:solidFill>
                <a:latin typeface="Segoe UI"/>
              </a:rPr>
              <a:t>Deterministic score is always authoritative</a:t>
            </a:r>
          </a:p>
          <a:p>
            <a:pPr>
              <a:spcAft>
                <a:spcPts val="1500"/>
              </a:spcAft>
            </a:pPr>
            <a:r>
              <a:rPr sz="1900" b="1">
                <a:solidFill>
                  <a:srgbClr val="22D3EE"/>
                </a:solidFill>
                <a:latin typeface="Segoe UI"/>
              </a:rPr>
              <a:t>»  </a:t>
            </a:r>
            <a:r>
              <a:rPr sz="1900" b="0">
                <a:solidFill>
                  <a:srgbClr val="C4D2E4"/>
                </a:solidFill>
                <a:latin typeface="Segoe UI"/>
              </a:rPr>
              <a:t>LLM breaks ties only — picks by index, can't invent IDs</a:t>
            </a:r>
          </a:p>
          <a:p>
            <a:pPr>
              <a:spcAft>
                <a:spcPts val="1500"/>
              </a:spcAft>
            </a:pPr>
            <a:r>
              <a:rPr sz="1900" b="1">
                <a:solidFill>
                  <a:srgbClr val="22D3EE"/>
                </a:solidFill>
                <a:latin typeface="Segoe UI"/>
              </a:rPr>
              <a:t>»  </a:t>
            </a:r>
            <a:r>
              <a:rPr sz="1900" b="0">
                <a:solidFill>
                  <a:srgbClr val="C4D2E4"/>
                </a:solidFill>
                <a:latin typeface="Segoe UI"/>
              </a:rPr>
              <a:t>Diminishing returns: it stops beating dead hypotheses</a:t>
            </a:r>
          </a:p>
          <a:p>
            <a:pPr>
              <a:spcAft>
                <a:spcPts val="1500"/>
              </a:spcAft>
            </a:pPr>
            <a:r>
              <a:rPr sz="1900" b="1">
                <a:solidFill>
                  <a:srgbClr val="22D3EE"/>
                </a:solidFill>
                <a:latin typeface="Segoe UI"/>
              </a:rPr>
              <a:t>»  </a:t>
            </a:r>
            <a:r>
              <a:rPr sz="1900" b="0">
                <a:solidFill>
                  <a:srgbClr val="C4D2E4"/>
                </a:solidFill>
                <a:latin typeface="Segoe UI"/>
              </a:rPr>
              <a:t>Every choice ships a human-readable rationale trail</a:t>
            </a:r>
          </a:p>
          <a:p>
            <a:pPr>
              <a:spcAft>
                <a:spcPts val="1500"/>
              </a:spcAft>
            </a:pPr>
            <a:r>
              <a:rPr sz="1900" b="1">
                <a:solidFill>
                  <a:srgbClr val="22D3EE"/>
                </a:solidFill>
                <a:latin typeface="Segoe UI"/>
              </a:rPr>
              <a:t>»  </a:t>
            </a:r>
            <a:r>
              <a:rPr sz="1900" b="0">
                <a:solidFill>
                  <a:srgbClr val="C4D2E4"/>
                </a:solidFill>
                <a:latin typeface="Segoe UI"/>
              </a:rPr>
              <a:t>AI reasoning shown as telemetry, never as authority</a:t>
            </a:r>
          </a:p>
        </p:txBody>
      </p:sp>
      <p:sp>
        <p:nvSpPr>
          <p:cNvPr id="9" name="TextBox 8"/>
          <p:cNvSpPr txBox="1"/>
          <p:nvPr/>
        </p:nvSpPr>
        <p:spPr>
          <a:xfrm>
            <a:off x="566928" y="6382512"/>
            <a:ext cx="8229600" cy="365760"/>
          </a:xfrm>
          <a:prstGeom prst="rect">
            <a:avLst/>
          </a:prstGeom>
          <a:noFill/>
        </p:spPr>
        <p:txBody>
          <a:bodyPr wrap="square" anchor="t" lIns="0" rIns="0" tIns="0" bIns="0">
            <a:spAutoFit/>
          </a:bodyPr>
          <a:lstStyle/>
          <a:p>
            <a:r>
              <a:rPr sz="1000" b="1">
                <a:solidFill>
                  <a:srgbClr val="22D3EE"/>
                </a:solidFill>
                <a:latin typeface="Consolas"/>
              </a:rPr>
              <a:t>SENTINEL</a:t>
            </a:r>
            <a:r>
              <a:rPr sz="1000" b="0">
                <a:solidFill>
                  <a:srgbClr val="6B7A90"/>
                </a:solidFill>
                <a:latin typeface="Consolas"/>
              </a:rPr>
              <a:t>   ·   find → reason → prove</a:t>
            </a:r>
          </a:p>
        </p:txBody>
      </p:sp>
      <p:sp>
        <p:nvSpPr>
          <p:cNvPr id="10" name="TextBox 9"/>
          <p:cNvSpPr txBox="1"/>
          <p:nvPr/>
        </p:nvSpPr>
        <p:spPr>
          <a:xfrm>
            <a:off x="10789920" y="6382512"/>
            <a:ext cx="914400" cy="365760"/>
          </a:xfrm>
          <a:prstGeom prst="rect">
            <a:avLst/>
          </a:prstGeom>
          <a:noFill/>
        </p:spPr>
        <p:txBody>
          <a:bodyPr wrap="square" anchor="t" lIns="0" rIns="0" tIns="0" bIns="0">
            <a:spAutoFit/>
          </a:bodyPr>
          <a:lstStyle/>
          <a:p>
            <a:pPr algn="r"/>
            <a:r>
              <a:rPr sz="1000" b="0">
                <a:solidFill>
                  <a:srgbClr val="6B7A90"/>
                </a:solidFill>
                <a:latin typeface="Consolas"/>
              </a:rPr>
              <a:t>03 / 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g.png"/>
          <p:cNvPicPr>
            <a:picLocks noChangeAspect="1"/>
          </p:cNvPicPr>
          <p:nvPr/>
        </p:nvPicPr>
        <p:blipFill>
          <a:blip r:embed="rId2"/>
          <a:stretch>
            <a:fillRect/>
          </a:stretch>
        </p:blipFill>
        <p:spPr>
          <a:xfrm>
            <a:off x="0" y="0"/>
            <a:ext cx="12191695" cy="6858000"/>
          </a:xfrm>
          <a:prstGeom prst="rect">
            <a:avLst/>
          </a:prstGeom>
        </p:spPr>
      </p:pic>
      <p:pic>
        <p:nvPicPr>
          <p:cNvPr id="3" name="Picture 2" descr="sentinel_mark.png"/>
          <p:cNvPicPr>
            <a:picLocks noChangeAspect="1"/>
          </p:cNvPicPr>
          <p:nvPr/>
        </p:nvPicPr>
        <p:blipFill>
          <a:blip r:embed="rId3"/>
          <a:stretch>
            <a:fillRect/>
          </a:stretch>
        </p:blipFill>
        <p:spPr>
          <a:xfrm>
            <a:off x="566928" y="457200"/>
            <a:ext cx="749808" cy="749808"/>
          </a:xfrm>
          <a:prstGeom prst="rect">
            <a:avLst/>
          </a:prstGeom>
        </p:spPr>
      </p:pic>
      <p:sp>
        <p:nvSpPr>
          <p:cNvPr id="4" name="Rounded Rectangle 3"/>
          <p:cNvSpPr/>
          <p:nvPr/>
        </p:nvSpPr>
        <p:spPr>
          <a:xfrm>
            <a:off x="10195560" y="457200"/>
            <a:ext cx="1554480" cy="384048"/>
          </a:xfrm>
          <a:prstGeom prst="roundRect">
            <a:avLst/>
          </a:prstGeom>
          <a:no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2D3EE"/>
                </a:solidFill>
                <a:latin typeface="Consolas"/>
              </a:rPr>
              <a:t>AI KAVACH</a:t>
            </a:r>
          </a:p>
        </p:txBody>
      </p:sp>
      <p:sp>
        <p:nvSpPr>
          <p:cNvPr id="5" name="TextBox 4"/>
          <p:cNvSpPr txBox="1"/>
          <p:nvPr/>
        </p:nvSpPr>
        <p:spPr>
          <a:xfrm>
            <a:off x="1508760" y="475488"/>
            <a:ext cx="8503920" cy="1051560"/>
          </a:xfrm>
          <a:prstGeom prst="rect">
            <a:avLst/>
          </a:prstGeom>
          <a:noFill/>
        </p:spPr>
        <p:txBody>
          <a:bodyPr wrap="square" anchor="ctr" lIns="0" rIns="0" tIns="0" bIns="0">
            <a:spAutoFit/>
          </a:bodyPr>
          <a:lstStyle/>
          <a:p>
            <a:r>
              <a:rPr sz="3300" b="1">
                <a:solidFill>
                  <a:srgbClr val="EAF2FF"/>
                </a:solidFill>
                <a:latin typeface="Consolas"/>
              </a:rPr>
              <a:t>Inside the Loop</a:t>
            </a:r>
          </a:p>
        </p:txBody>
      </p:sp>
      <p:pic>
        <p:nvPicPr>
          <p:cNvPr id="6" name="Picture 5" descr="deck_rule.png"/>
          <p:cNvPicPr>
            <a:picLocks noChangeAspect="1"/>
          </p:cNvPicPr>
          <p:nvPr/>
        </p:nvPicPr>
        <p:blipFill>
          <a:blip r:embed="rId4"/>
          <a:stretch>
            <a:fillRect/>
          </a:stretch>
        </p:blipFill>
        <p:spPr>
          <a:xfrm>
            <a:off x="640080" y="1664208"/>
            <a:ext cx="3108960" cy="56692"/>
          </a:xfrm>
          <a:prstGeom prst="rect">
            <a:avLst/>
          </a:prstGeom>
        </p:spPr>
      </p:pic>
      <p:sp>
        <p:nvSpPr>
          <p:cNvPr id="7" name="TextBox 6"/>
          <p:cNvSpPr txBox="1"/>
          <p:nvPr/>
        </p:nvSpPr>
        <p:spPr>
          <a:xfrm>
            <a:off x="658368" y="1847088"/>
            <a:ext cx="10881360" cy="548640"/>
          </a:xfrm>
          <a:prstGeom prst="rect">
            <a:avLst/>
          </a:prstGeom>
          <a:noFill/>
        </p:spPr>
        <p:txBody>
          <a:bodyPr wrap="square" anchor="t" lIns="0" rIns="0" tIns="0" bIns="0">
            <a:spAutoFit/>
          </a:bodyPr>
          <a:lstStyle/>
          <a:p>
            <a:r>
              <a:rPr sz="1700" b="0">
                <a:solidFill>
                  <a:srgbClr val="22D3EE"/>
                </a:solidFill>
                <a:latin typeface="Consolas"/>
              </a:rPr>
              <a:t>recon → graph → hypotheses → decide → probe → observe → judge</a:t>
            </a:r>
          </a:p>
        </p:txBody>
      </p:sp>
      <p:sp>
        <p:nvSpPr>
          <p:cNvPr id="8" name="TextBox 7"/>
          <p:cNvSpPr txBox="1"/>
          <p:nvPr/>
        </p:nvSpPr>
        <p:spPr>
          <a:xfrm>
            <a:off x="713232" y="2697480"/>
            <a:ext cx="10789920" cy="3383280"/>
          </a:xfrm>
          <a:prstGeom prst="rect">
            <a:avLst/>
          </a:prstGeom>
          <a:noFill/>
        </p:spPr>
        <p:txBody>
          <a:bodyPr wrap="square" anchor="t" lIns="0" rIns="0" tIns="0" bIns="0">
            <a:spAutoFit/>
          </a:bodyPr>
          <a:lstStyle/>
          <a:p>
            <a:pPr>
              <a:spcAft>
                <a:spcPts val="1500"/>
              </a:spcAft>
            </a:pPr>
            <a:r>
              <a:rPr sz="1900" b="1">
                <a:solidFill>
                  <a:srgbClr val="22D3EE"/>
                </a:solidFill>
                <a:latin typeface="Segoe UI"/>
              </a:rPr>
              <a:t>»  </a:t>
            </a:r>
            <a:r>
              <a:rPr sz="1900" b="0">
                <a:solidFill>
                  <a:srgbClr val="C4D2E4"/>
                </a:solidFill>
                <a:latin typeface="Segoe UI"/>
              </a:rPr>
              <a:t>Recon materializes a security graph of the surface</a:t>
            </a:r>
          </a:p>
          <a:p>
            <a:pPr>
              <a:spcAft>
                <a:spcPts val="1500"/>
              </a:spcAft>
            </a:pPr>
            <a:r>
              <a:rPr sz="1900" b="1">
                <a:solidFill>
                  <a:srgbClr val="22D3EE"/>
                </a:solidFill>
                <a:latin typeface="Segoe UI"/>
              </a:rPr>
              <a:t>»  </a:t>
            </a:r>
            <a:r>
              <a:rPr sz="1900" b="0">
                <a:solidFill>
                  <a:srgbClr val="C4D2E4"/>
                </a:solidFill>
                <a:latin typeface="Segoe UI"/>
              </a:rPr>
              <a:t>Hypotheses = justified reasons to test authorization</a:t>
            </a:r>
          </a:p>
          <a:p>
            <a:pPr>
              <a:spcAft>
                <a:spcPts val="1500"/>
              </a:spcAft>
            </a:pPr>
            <a:r>
              <a:rPr sz="1900" b="1">
                <a:solidFill>
                  <a:srgbClr val="22D3EE"/>
                </a:solidFill>
                <a:latin typeface="Segoe UI"/>
              </a:rPr>
              <a:t>»  </a:t>
            </a:r>
            <a:r>
              <a:rPr sz="1900" b="0">
                <a:solidFill>
                  <a:srgbClr val="C4D2E4"/>
                </a:solidFill>
                <a:latin typeface="Segoe UI"/>
              </a:rPr>
              <a:t>Scope-guarded HTTP probe records facts, not verdicts</a:t>
            </a:r>
          </a:p>
          <a:p>
            <a:pPr>
              <a:spcAft>
                <a:spcPts val="1500"/>
              </a:spcAft>
            </a:pPr>
            <a:r>
              <a:rPr sz="1900" b="1">
                <a:solidFill>
                  <a:srgbClr val="22D3EE"/>
                </a:solidFill>
                <a:latin typeface="Segoe UI"/>
              </a:rPr>
              <a:t>»  </a:t>
            </a:r>
            <a:r>
              <a:rPr sz="1900" b="0">
                <a:solidFill>
                  <a:srgbClr val="C4D2E4"/>
                </a:solidFill>
                <a:latin typeface="Segoe UI"/>
              </a:rPr>
              <a:t>Deterministic judge tests facts against explicit policy</a:t>
            </a:r>
          </a:p>
          <a:p>
            <a:pPr>
              <a:spcAft>
                <a:spcPts val="1500"/>
              </a:spcAft>
            </a:pPr>
            <a:r>
              <a:rPr sz="1900" b="1">
                <a:solidFill>
                  <a:srgbClr val="22D3EE"/>
                </a:solidFill>
                <a:latin typeface="Segoe UI"/>
              </a:rPr>
              <a:t>»  </a:t>
            </a:r>
            <a:r>
              <a:rPr sz="1900" b="0">
                <a:solidFill>
                  <a:srgbClr val="C4D2E4"/>
                </a:solidFill>
                <a:latin typeface="Segoe UI"/>
              </a:rPr>
              <a:t>CONFIRMED-only findings; refinement feeds back in</a:t>
            </a:r>
          </a:p>
        </p:txBody>
      </p:sp>
      <p:sp>
        <p:nvSpPr>
          <p:cNvPr id="9" name="TextBox 8"/>
          <p:cNvSpPr txBox="1"/>
          <p:nvPr/>
        </p:nvSpPr>
        <p:spPr>
          <a:xfrm>
            <a:off x="566928" y="6382512"/>
            <a:ext cx="8229600" cy="365760"/>
          </a:xfrm>
          <a:prstGeom prst="rect">
            <a:avLst/>
          </a:prstGeom>
          <a:noFill/>
        </p:spPr>
        <p:txBody>
          <a:bodyPr wrap="square" anchor="t" lIns="0" rIns="0" tIns="0" bIns="0">
            <a:spAutoFit/>
          </a:bodyPr>
          <a:lstStyle/>
          <a:p>
            <a:r>
              <a:rPr sz="1000" b="1">
                <a:solidFill>
                  <a:srgbClr val="22D3EE"/>
                </a:solidFill>
                <a:latin typeface="Consolas"/>
              </a:rPr>
              <a:t>SENTINEL</a:t>
            </a:r>
            <a:r>
              <a:rPr sz="1000" b="0">
                <a:solidFill>
                  <a:srgbClr val="6B7A90"/>
                </a:solidFill>
                <a:latin typeface="Consolas"/>
              </a:rPr>
              <a:t>   ·   find → reason → prove</a:t>
            </a:r>
          </a:p>
        </p:txBody>
      </p:sp>
      <p:sp>
        <p:nvSpPr>
          <p:cNvPr id="10" name="TextBox 9"/>
          <p:cNvSpPr txBox="1"/>
          <p:nvPr/>
        </p:nvSpPr>
        <p:spPr>
          <a:xfrm>
            <a:off x="10789920" y="6382512"/>
            <a:ext cx="914400" cy="365760"/>
          </a:xfrm>
          <a:prstGeom prst="rect">
            <a:avLst/>
          </a:prstGeom>
          <a:noFill/>
        </p:spPr>
        <p:txBody>
          <a:bodyPr wrap="square" anchor="t" lIns="0" rIns="0" tIns="0" bIns="0">
            <a:spAutoFit/>
          </a:bodyPr>
          <a:lstStyle/>
          <a:p>
            <a:pPr algn="r"/>
            <a:r>
              <a:rPr sz="1000" b="0">
                <a:solidFill>
                  <a:srgbClr val="6B7A90"/>
                </a:solidFill>
                <a:latin typeface="Consolas"/>
              </a:rPr>
              <a:t>04 /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_bg.png"/>
          <p:cNvPicPr>
            <a:picLocks noChangeAspect="1"/>
          </p:cNvPicPr>
          <p:nvPr/>
        </p:nvPicPr>
        <p:blipFill>
          <a:blip r:embed="rId2"/>
          <a:stretch>
            <a:fillRect/>
          </a:stretch>
        </p:blipFill>
        <p:spPr>
          <a:xfrm>
            <a:off x="0" y="0"/>
            <a:ext cx="12191695" cy="6858000"/>
          </a:xfrm>
          <a:prstGeom prst="rect">
            <a:avLst/>
          </a:prstGeom>
        </p:spPr>
      </p:pic>
      <p:pic>
        <p:nvPicPr>
          <p:cNvPr id="3" name="Picture 2" descr="sentinel_mark.png"/>
          <p:cNvPicPr>
            <a:picLocks noChangeAspect="1"/>
          </p:cNvPicPr>
          <p:nvPr/>
        </p:nvPicPr>
        <p:blipFill>
          <a:blip r:embed="rId3"/>
          <a:stretch>
            <a:fillRect/>
          </a:stretch>
        </p:blipFill>
        <p:spPr>
          <a:xfrm>
            <a:off x="566928" y="457200"/>
            <a:ext cx="749808" cy="749808"/>
          </a:xfrm>
          <a:prstGeom prst="rect">
            <a:avLst/>
          </a:prstGeom>
        </p:spPr>
      </p:pic>
      <p:sp>
        <p:nvSpPr>
          <p:cNvPr id="4" name="Rounded Rectangle 3"/>
          <p:cNvSpPr/>
          <p:nvPr/>
        </p:nvSpPr>
        <p:spPr>
          <a:xfrm>
            <a:off x="10195560" y="457200"/>
            <a:ext cx="1554480" cy="384048"/>
          </a:xfrm>
          <a:prstGeom prst="roundRect">
            <a:avLst/>
          </a:prstGeom>
          <a:no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2D3EE"/>
                </a:solidFill>
                <a:latin typeface="Consolas"/>
              </a:rPr>
              <a:t>AI KAVACH</a:t>
            </a:r>
          </a:p>
        </p:txBody>
      </p:sp>
      <p:sp>
        <p:nvSpPr>
          <p:cNvPr id="5" name="TextBox 4"/>
          <p:cNvSpPr txBox="1"/>
          <p:nvPr/>
        </p:nvSpPr>
        <p:spPr>
          <a:xfrm>
            <a:off x="1508760" y="475488"/>
            <a:ext cx="8503920" cy="1051560"/>
          </a:xfrm>
          <a:prstGeom prst="rect">
            <a:avLst/>
          </a:prstGeom>
          <a:noFill/>
        </p:spPr>
        <p:txBody>
          <a:bodyPr wrap="square" anchor="ctr" lIns="0" rIns="0" tIns="0" bIns="0">
            <a:spAutoFit/>
          </a:bodyPr>
          <a:lstStyle/>
          <a:p>
            <a:r>
              <a:rPr sz="3300" b="1">
                <a:solidFill>
                  <a:srgbClr val="EAF2FF"/>
                </a:solidFill>
                <a:latin typeface="Consolas"/>
              </a:rPr>
              <a:t>Bounded Autonomy, Honest Status</a:t>
            </a:r>
          </a:p>
        </p:txBody>
      </p:sp>
      <p:pic>
        <p:nvPicPr>
          <p:cNvPr id="6" name="Picture 5" descr="deck_rule.png"/>
          <p:cNvPicPr>
            <a:picLocks noChangeAspect="1"/>
          </p:cNvPicPr>
          <p:nvPr/>
        </p:nvPicPr>
        <p:blipFill>
          <a:blip r:embed="rId4"/>
          <a:stretch>
            <a:fillRect/>
          </a:stretch>
        </p:blipFill>
        <p:spPr>
          <a:xfrm>
            <a:off x="640080" y="1664208"/>
            <a:ext cx="3108960" cy="56692"/>
          </a:xfrm>
          <a:prstGeom prst="rect">
            <a:avLst/>
          </a:prstGeom>
        </p:spPr>
      </p:pic>
      <p:sp>
        <p:nvSpPr>
          <p:cNvPr id="7" name="TextBox 6"/>
          <p:cNvSpPr txBox="1"/>
          <p:nvPr/>
        </p:nvSpPr>
        <p:spPr>
          <a:xfrm>
            <a:off x="658368" y="1847088"/>
            <a:ext cx="10881360" cy="548640"/>
          </a:xfrm>
          <a:prstGeom prst="rect">
            <a:avLst/>
          </a:prstGeom>
          <a:noFill/>
        </p:spPr>
        <p:txBody>
          <a:bodyPr wrap="square" anchor="t" lIns="0" rIns="0" tIns="0" bIns="0">
            <a:spAutoFit/>
          </a:bodyPr>
          <a:lstStyle/>
          <a:p>
            <a:r>
              <a:rPr sz="1700" b="0">
                <a:solidFill>
                  <a:srgbClr val="22D3EE"/>
                </a:solidFill>
                <a:latin typeface="Consolas"/>
              </a:rPr>
              <a:t>Safe by construction — and clear about what's next</a:t>
            </a:r>
          </a:p>
        </p:txBody>
      </p:sp>
      <p:sp>
        <p:nvSpPr>
          <p:cNvPr id="8" name="TextBox 7"/>
          <p:cNvSpPr txBox="1"/>
          <p:nvPr/>
        </p:nvSpPr>
        <p:spPr>
          <a:xfrm>
            <a:off x="713232" y="2697480"/>
            <a:ext cx="10789920" cy="3383280"/>
          </a:xfrm>
          <a:prstGeom prst="rect">
            <a:avLst/>
          </a:prstGeom>
          <a:noFill/>
        </p:spPr>
        <p:txBody>
          <a:bodyPr wrap="square" anchor="t" lIns="0" rIns="0" tIns="0" bIns="0">
            <a:spAutoFit/>
          </a:bodyPr>
          <a:lstStyle/>
          <a:p>
            <a:pPr>
              <a:spcAft>
                <a:spcPts val="1500"/>
              </a:spcAft>
            </a:pPr>
            <a:r>
              <a:rPr sz="1900" b="1">
                <a:solidFill>
                  <a:srgbClr val="2DD48F"/>
                </a:solidFill>
                <a:latin typeface="Segoe UI"/>
              </a:rPr>
              <a:t>»  </a:t>
            </a:r>
            <a:r>
              <a:rPr sz="1900" b="0">
                <a:solidFill>
                  <a:srgbClr val="EAF2FF"/>
                </a:solidFill>
                <a:latin typeface="Segoe UI"/>
              </a:rPr>
              <a:t>Pre-connection scope guard; local, bounded, non-destructive</a:t>
            </a:r>
          </a:p>
          <a:p>
            <a:pPr>
              <a:spcAft>
                <a:spcPts val="1500"/>
              </a:spcAft>
            </a:pPr>
            <a:r>
              <a:rPr sz="1900" b="1">
                <a:solidFill>
                  <a:srgbClr val="2DD48F"/>
                </a:solidFill>
                <a:latin typeface="Segoe UI"/>
              </a:rPr>
              <a:t>»  </a:t>
            </a:r>
            <a:r>
              <a:rPr sz="1900" b="0">
                <a:solidFill>
                  <a:srgbClr val="EAF2FF"/>
                </a:solidFill>
                <a:latin typeface="Segoe UI"/>
              </a:rPr>
              <a:t>The find half runs live today, end-to-end</a:t>
            </a:r>
          </a:p>
          <a:p>
            <a:pPr>
              <a:spcAft>
                <a:spcPts val="1500"/>
              </a:spcAft>
            </a:pPr>
            <a:r>
              <a:rPr sz="1900" b="1">
                <a:solidFill>
                  <a:srgbClr val="F5B301"/>
                </a:solidFill>
                <a:latin typeface="Segoe UI"/>
              </a:rPr>
              <a:t>»  </a:t>
            </a:r>
            <a:r>
              <a:rPr sz="1900" b="0">
                <a:solidFill>
                  <a:srgbClr val="EAF2FF"/>
                </a:solidFill>
                <a:latin typeface="Segoe UI"/>
              </a:rPr>
              <a:t>Reason/prove built; wiring the bootstrap gap next</a:t>
            </a:r>
          </a:p>
          <a:p>
            <a:pPr>
              <a:spcAft>
                <a:spcPts val="1500"/>
              </a:spcAft>
            </a:pPr>
            <a:r>
              <a:rPr sz="1900" b="1">
                <a:solidFill>
                  <a:srgbClr val="22D3EE"/>
                </a:solidFill>
                <a:latin typeface="Segoe UI"/>
              </a:rPr>
              <a:t>»  </a:t>
            </a:r>
            <a:r>
              <a:rPr sz="1900" b="0">
                <a:solidFill>
                  <a:srgbClr val="C4D2E4"/>
                </a:solidFill>
                <a:latin typeface="Segoe UI"/>
              </a:rPr>
              <a:t>AI Kavach fit: autonomous, auditable, defensible</a:t>
            </a:r>
          </a:p>
          <a:p>
            <a:pPr>
              <a:spcAft>
                <a:spcPts val="1500"/>
              </a:spcAft>
            </a:pPr>
            <a:r>
              <a:rPr sz="1900" b="1">
                <a:solidFill>
                  <a:srgbClr val="22D3EE"/>
                </a:solidFill>
                <a:latin typeface="Segoe UI"/>
              </a:rPr>
              <a:t>»  </a:t>
            </a:r>
            <a:r>
              <a:rPr sz="1900" b="0">
                <a:solidFill>
                  <a:srgbClr val="C4D2E4"/>
                </a:solidFill>
                <a:latin typeface="Segoe UI"/>
              </a:rPr>
              <a:t>Vision: find → reason → prove → remediate</a:t>
            </a:r>
          </a:p>
        </p:txBody>
      </p:sp>
      <p:sp>
        <p:nvSpPr>
          <p:cNvPr id="9" name="TextBox 8"/>
          <p:cNvSpPr txBox="1"/>
          <p:nvPr/>
        </p:nvSpPr>
        <p:spPr>
          <a:xfrm>
            <a:off x="566928" y="6382512"/>
            <a:ext cx="8229600" cy="365760"/>
          </a:xfrm>
          <a:prstGeom prst="rect">
            <a:avLst/>
          </a:prstGeom>
          <a:noFill/>
        </p:spPr>
        <p:txBody>
          <a:bodyPr wrap="square" anchor="t" lIns="0" rIns="0" tIns="0" bIns="0">
            <a:spAutoFit/>
          </a:bodyPr>
          <a:lstStyle/>
          <a:p>
            <a:r>
              <a:rPr sz="1000" b="1">
                <a:solidFill>
                  <a:srgbClr val="22D3EE"/>
                </a:solidFill>
                <a:latin typeface="Consolas"/>
              </a:rPr>
              <a:t>SENTINEL</a:t>
            </a:r>
            <a:r>
              <a:rPr sz="1000" b="0">
                <a:solidFill>
                  <a:srgbClr val="6B7A90"/>
                </a:solidFill>
                <a:latin typeface="Consolas"/>
              </a:rPr>
              <a:t>   ·   find → reason → prove</a:t>
            </a:r>
          </a:p>
        </p:txBody>
      </p:sp>
      <p:sp>
        <p:nvSpPr>
          <p:cNvPr id="10" name="TextBox 9"/>
          <p:cNvSpPr txBox="1"/>
          <p:nvPr/>
        </p:nvSpPr>
        <p:spPr>
          <a:xfrm>
            <a:off x="10789920" y="6382512"/>
            <a:ext cx="914400" cy="365760"/>
          </a:xfrm>
          <a:prstGeom prst="rect">
            <a:avLst/>
          </a:prstGeom>
          <a:noFill/>
        </p:spPr>
        <p:txBody>
          <a:bodyPr wrap="square" anchor="t" lIns="0" rIns="0" tIns="0" bIns="0">
            <a:spAutoFit/>
          </a:bodyPr>
          <a:lstStyle/>
          <a:p>
            <a:pPr algn="r"/>
            <a:r>
              <a:rPr sz="1000" b="0">
                <a:solidFill>
                  <a:srgbClr val="6B7A90"/>
                </a:solidFill>
                <a:latin typeface="Consolas"/>
              </a:rPr>
              <a:t>05 /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