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is an autonomous cyber-reasoning agent. Point it at a live target; it recons, hypothesizes, probes under a strict scope guard, and lets a deterministic judge decide every verdict — then it patches and re-proves the fix. Local-first, evidence-driven, target-agnostic.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pain: scanners pattern-match and treat any 200 as a hit, burying teams in false positives — and the highest-impact classes (authorization, session) are exactly what signatures miss. Sentinel's bar is a reproduced contradiction plus a proven fix.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curves cross: the authorization surface exploded with APIs while local models got good enough to reason on-prem. The missing piece is trust — an LLM alone can't be the authority. Sentinel supplies the deterministic ground truth that makes autonomous reasoning safe to 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thesis in one line: reason, don't signature. Discovery, judgement, and remediation are separate stages. The AI accelerates search but is caged out of the verdict; only the deterministic judge confirms — and only a live re-proof closes a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to end it is a disciplined loop: graph the surface, seed hypotheses, fire one scope-checked probe at a time, judge the observations against explicit policy, then synthesize and enforce a fix and re-run the same judge to prove it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product: a set of hard rules that make every verdict trustworthy and every fix real.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invariants are enforced in code. Verification runs the pure judge on a scratch graph seeded with relationships only — never the confirmation path — so a fix is proven by a real VALIDATED→DISPROVED flip. Compliant controls yield no finding, which is how you know it isn't fabricating.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to 'isn't it just an LLM wrapper?' The engine scores candidates with a self-adapting formula and consults the model only on ties, where it chooses by index we map back to a real id. It cannot hallucinate a target or override a higher score.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graph is the single source of truth; the scope guard is checked before any socket opens; each vuln class has its own pure judge; and the enforcer stands up a loopback shield to prove fixes. All local — the model runs on-box.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following screenshots are captured from the real engine driving a live target over real sockets. Nothing is staged or mocked.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move: Sentinel recons the target into a security graph, loads the operator's access-policy oracle, and seeds conservative hypotheses. Discovery is explicitly not a vulnerability — each hypothesis is a justified reason to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board shows the loop thinking out loud: candidates, scores, the occasional advisory tie-break, and the probe fired. It reads like a researcher's notebook, not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HIGH-severity broken-access-control finding: the oracle says deny, the live target leaks, and the judge reproduces it. The neighbouring compliant control produces no finding — the honest differential that proves nothing is manufactured.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Remediation is a proof, not a suggestion. Sentinel enforces the control on a loopback shield and re-runs the identical judge; only a real VALIDATED→DISPROVED flip earns FIX PROVEN, and it emits config artifacts for real proxies.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is not a one-trick demo. Twelve independent classes each run the entire loop end-to-end against live targets — every one gated by the same epistemic contract.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class. The oracle encodes intended authorization; Sentinel tests it live and confirms only reproduced violations. With the Login Tester it runs the same rules as an authenticated principal.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Header posture as a first-class, judged property. Missing CSP and wildcard CORS are confirmed against the live response; a compliant X-Content-Type-Options yields no finding; then the shield fixes it and the judge re-proves.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chaining enabler. Cookie oracles are grounded in the Set-Cookie the target actually sets, so a weak session cookie is confirmed honestly, then hardened on the shield and re-proven.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Privilege escalation as a rigorous differential. Sentinel replays the attacker's session against their own object (control) and a forbidden one (breach), plus an anonymous baseline; it confirms only when the control succeeds, the breach is granted, and anonymous is denied. An ownership-checked endpoint yields no finding — the honest control — then the shield denies the escalation and the judge re-proves.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Injection judged by behaviour, not by regex. Sentinel sends a benign baseline plus length-matched boolean pairs and confirms only when the TRUE and FALSE arms diverge while the baseline stays anchored — so the differential emerges from the database actually evaluating the injected boolean. A parameterised filter collapses the differential to no finding; the request-guard virtual patch then blocks the payload and the judge re-proves.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more than doubled without loosening the bar. SSTI confirms only when injected arithmetic actually evaluates; reflected XSS only when attacker markup survives VERBATIM un-escaped where a benign control is echoed safely; path traversal only when a directory-escape payload leaks an OS-file invariant absent from a benign, traversal-free control. Open-redirect and CORS each ride a two-probe differential against an unroutable nonce that is observed or echoed but never contacted; SSRF proves the fetch by an out-of-band callback to Sentinel's own loopback beacon; broken-auth replays a genuine, a forged, and an absent token. Twelve classes, one contract.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most sophisticated classes are also where honesty matters most. SSRF needs no operator oracle — the only URL Sentinel ever injects is its own loopback collaborator, so a callback is unambiguous and safe. Broken-auth confirms only when a token Sentinel itself minted (carrying a benign marker) is accepted as the sole authenticator. And when a fix cannot be proven by a request-guard — HS256-confusion or a cracked weak secret — Sentinel returns ADVISORY_ONLY with the durable handler-side fix, rather than manufacturing a fix-proof.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Login Tester unlocks the authenticated surface. Sentinel opens a visible browser, waits for you (including MFA), auto-detects success, and reasons over the real session — with credentials handled in memory only, never persisted or logged.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Chaining is where scanners over-claim — so ours is provable, not narrated. Link 1 reads a real identifier out of a CONFIRMED SQL injection's TRUE-arm response body; link 2 substitutes that exact id into an IDOR/BOLA breach and re-runs the UNCHANGED privilege-escalation judge on a fresh scratch graph. The edge is proven only when the real leaked id VALIDATES while a same-shaped DECOY id does not — the decoy wall proves the link is load-bearing on that specific leaked value, not a route that answers for any id. No decoy failure, no chain.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Target-agnosticism is structural: the engine carries no target-specific code, only the operator's oracle changes. We've run the full loop on two independent stacks — Juice Shop and VAmPI — to prove it generalizes.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 classes are the proof-carrying core. The next section is what they add up to: a dynamic, tool-wielding, LLM-driven agent that recons, adapts, proves, patches, and reports — with the same caged-AI contract.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of the current state. `autonomous &lt;url&gt;` fuses the whole pipeline into one self-directed loop: it reconnoiters live, generates KB-informed hypotheses, adjudicates them concurrently with the pure judges, and — on operator approval — patches and re-proves. Nothing target-specific is baked 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without compromising trust. A curated registry of real OSS tools widens what we test, but every tool 'proposes only' — even sqlmap and nuclei are demoted to nominators whose hits are re-proved by our judges. The model layer is pluggable: free local qwen for bulk and CI, a hosted Opus for showcase runs, keys never stored.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ends in a deliverable that carries its own proof. For every confirmed finding the report lifts the exact probes the judge ran, the differential and anchor, the judge's verbatim verdict and evidence ids, and the remediation's live flip. An optional LLM writes the executive summary — advisory only; it asserts no fact.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took a 200-item vulnerability wishlist and folded it honestly into four tiers: what ships today, the build queue, the frontier we surface only as labeled leads, and what is out of scope for a black-box web tool. Breadth is earned per differential judge — never declared per list entry. That discipline is the antidote to 'basic'.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is first-class. The offline suite is deterministic and network-free; the single skip is the browser test that only runs with the opt-in extra. Tests cover confirmation, remediation proof, isolation, and — crucially — that compliant controls produce no finding.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is a feature, not a limitation. The reasoning model runs on-box, the deterministic core works even if the model is down, and nothing egresses — which makes Sentinel deployable in air-gapped and regulated settings.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Autonomy is bounded by design: scope is enforced before a socket opens, probes are non-destructive, the shield is loopback-only, and the acting and judging stages are strictly separated. Credential handling is memory-only.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Category-level, not a bake-off: signature scanners are fast but noisy and miss authorization; DAST and fuzzers explore but don't reason about intent or prove fixes. Sentinel's column is defined by reproduced verdicts, live fix-proofs, and full auditability.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trust plus closure: verdicts you can believe and fixes you can prove, in the classes that matter most, deployable where the sensitive targets actually live. Honesty about limits is itself a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candid about the line between done and next. Today: twelve classes and a provable 2-link chain live on two stacks, the autonomous fusion loop, a curated propose-only tool layer, pluggable LLM providers, and a proof-carrying report generator. Next: a smart failure-analysis/retry stage, the Tier-B classes, a deeper skills KB, and a CI/CD gate.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$1M for ~18 months to deepen exploit composition, expand the class coverage, build a policy library and CI integrations, and land design partners in regulated environments where local-first is a hard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future of security tooling isn't more signatures — it's reasoning that proves itself. That's Sentinel.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logo_transparent.png"/>
          <p:cNvPicPr>
            <a:picLocks noChangeAspect="1"/>
          </p:cNvPicPr>
          <p:nvPr/>
        </p:nvPicPr>
        <p:blipFill>
          <a:blip r:embed="rId3"/>
          <a:stretch>
            <a:fillRect/>
          </a:stretch>
        </p:blipFill>
        <p:spPr>
          <a:xfrm>
            <a:off x="1889607" y="1417320"/>
            <a:ext cx="8412480" cy="2298733"/>
          </a:xfrm>
          <a:prstGeom prst="rect">
            <a:avLst/>
          </a:prstGeom>
        </p:spPr>
      </p:pic>
      <p:sp>
        <p:nvSpPr>
          <p:cNvPr id="4" name="TextBox 3"/>
          <p:cNvSpPr txBox="1"/>
          <p:nvPr/>
        </p:nvSpPr>
        <p:spPr>
          <a:xfrm>
            <a:off x="1371600" y="3853213"/>
            <a:ext cx="9448495" cy="548640"/>
          </a:xfrm>
          <a:prstGeom prst="rect">
            <a:avLst/>
          </a:prstGeom>
          <a:noFill/>
        </p:spPr>
        <p:txBody>
          <a:bodyPr wrap="square" anchor="t" lIns="0" rIns="0" tIns="0" bIns="0">
            <a:spAutoFit/>
          </a:bodyPr>
          <a:lstStyle/>
          <a:p>
            <a:pPr algn="ctr"/>
            <a:r>
              <a:rPr sz="1800" b="0">
                <a:solidFill>
                  <a:srgbClr val="22D3EE"/>
                </a:solidFill>
                <a:latin typeface="Consolas"/>
              </a:rPr>
              <a:t>Autonomous cyber-reasoning  —  find → reason → prove → patch → prove</a:t>
            </a:r>
          </a:p>
        </p:txBody>
      </p:sp>
      <p:sp>
        <p:nvSpPr>
          <p:cNvPr id="5" name="TextBox 4"/>
          <p:cNvSpPr txBox="1"/>
          <p:nvPr/>
        </p:nvSpPr>
        <p:spPr>
          <a:xfrm>
            <a:off x="1737360" y="4447573"/>
            <a:ext cx="8716975" cy="2011680"/>
          </a:xfrm>
          <a:prstGeom prst="rect">
            <a:avLst/>
          </a:prstGeom>
          <a:noFill/>
        </p:spPr>
        <p:txBody>
          <a:bodyPr wrap="square" anchor="t" lIns="0" rIns="0" tIns="0" bIns="0">
            <a:spAutoFit/>
          </a:bodyPr>
          <a:lstStyle/>
          <a:p>
            <a:pPr algn="ctr">
              <a:spcAft>
                <a:spcPts val="700"/>
              </a:spcAft>
            </a:pPr>
            <a:r>
              <a:rPr sz="1500" b="0">
                <a:solidFill>
                  <a:srgbClr val="C4D2E4"/>
                </a:solidFill>
                <a:latin typeface="Segoe UI"/>
              </a:rPr>
              <a:t>Local-first AI agent that reasons about live web targets</a:t>
            </a:r>
          </a:p>
          <a:p>
            <a:pPr algn="ctr">
              <a:spcAft>
                <a:spcPts val="700"/>
              </a:spcAft>
            </a:pPr>
            <a:r>
              <a:rPr sz="1500" b="0">
                <a:solidFill>
                  <a:srgbClr val="C4D2E4"/>
                </a:solidFill>
                <a:latin typeface="Segoe UI"/>
              </a:rPr>
              <a:t>A status code is never a verdict — a deterministic judge decides</a:t>
            </a:r>
          </a:p>
          <a:p>
            <a:pPr algn="ctr">
              <a:spcAft>
                <a:spcPts val="700"/>
              </a:spcAft>
            </a:pPr>
            <a:r>
              <a:rPr sz="1500" b="0">
                <a:solidFill>
                  <a:srgbClr val="C4D2E4"/>
                </a:solidFill>
                <a:latin typeface="Segoe UI"/>
              </a:rPr>
              <a:t>Proven end-to-end on two independent live stacks</a:t>
            </a:r>
          </a:p>
          <a:p>
            <a:pPr algn="ctr">
              <a:spcAft>
                <a:spcPts val="700"/>
              </a:spcAft>
            </a:pPr>
            <a:r>
              <a:rPr sz="1500" b="0">
                <a:solidFill>
                  <a:srgbClr val="C4D2E4"/>
                </a:solidFill>
                <a:latin typeface="Segoe UI"/>
              </a:rPr>
              <a:t>Twelve vulnerability classes, each closing the full loop live</a:t>
            </a:r>
          </a:p>
          <a:p>
            <a:pPr algn="ctr">
              <a:spcAft>
                <a:spcPts val="700"/>
              </a:spcAft>
            </a:pPr>
            <a:r>
              <a:rPr sz="1500" b="0">
                <a:solidFill>
                  <a:srgbClr val="C4D2E4"/>
                </a:solidFill>
                <a:latin typeface="Segoe UI"/>
              </a:rPr>
              <a:t>Every decision explainable, auditable, and scope-guarded</a:t>
            </a:r>
          </a:p>
        </p:txBody>
      </p:sp>
      <p:sp>
        <p:nvSpPr>
          <p:cNvPr id="6" name="TextBox 5"/>
          <p:cNvSpPr txBox="1"/>
          <p:nvPr/>
        </p:nvSpPr>
        <p:spPr>
          <a:xfrm>
            <a:off x="0" y="6263640"/>
            <a:ext cx="12191695" cy="457200"/>
          </a:xfrm>
          <a:prstGeom prst="rect">
            <a:avLst/>
          </a:prstGeom>
          <a:noFill/>
        </p:spPr>
        <p:txBody>
          <a:bodyPr wrap="square" anchor="t" lIns="0" rIns="0" tIns="0" bIns="0">
            <a:spAutoFit/>
          </a:bodyPr>
          <a:lstStyle/>
          <a:p>
            <a:pPr algn="ctr"/>
            <a:r>
              <a:rPr sz="1100" b="1">
                <a:solidFill>
                  <a:srgbClr val="6B7A90"/>
                </a:solidFill>
                <a:latin typeface="Consolas"/>
              </a:rPr>
              <a:t>AI KAVACH CHALLENGE  ·  AUTONOMOUS CYBER-REASONING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Scanners Guess. Sentinel Reasons.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From noisy 200s to justified, reproduced, remediated claims</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Signature scanners flag 200s — a firehose of false positives</a:t>
            </a:r>
          </a:p>
          <a:p>
            <a:pPr>
              <a:spcAft>
                <a:spcPts val="1500"/>
              </a:spcAft>
            </a:pPr>
            <a:r>
              <a:rPr sz="1800" b="1">
                <a:solidFill>
                  <a:srgbClr val="22D3EE"/>
                </a:solidFill>
                <a:latin typeface="Segoe UI"/>
              </a:rPr>
              <a:t>»  </a:t>
            </a:r>
            <a:r>
              <a:rPr sz="1800" b="0">
                <a:solidFill>
                  <a:srgbClr val="C4D2E4"/>
                </a:solidFill>
                <a:latin typeface="Segoe UI"/>
              </a:rPr>
              <a:t>Authorization &amp; session flaws need context, not patterns</a:t>
            </a:r>
          </a:p>
          <a:p>
            <a:pPr>
              <a:spcAft>
                <a:spcPts val="1500"/>
              </a:spcAft>
            </a:pPr>
            <a:r>
              <a:rPr sz="1800" b="1">
                <a:solidFill>
                  <a:srgbClr val="22D3EE"/>
                </a:solidFill>
                <a:latin typeface="Segoe UI"/>
              </a:rPr>
              <a:t>»  </a:t>
            </a:r>
            <a:r>
              <a:rPr sz="1800" b="0">
                <a:solidFill>
                  <a:srgbClr val="C4D2E4"/>
                </a:solidFill>
                <a:latin typeface="Segoe UI"/>
              </a:rPr>
              <a:t>Teams drown in unranked output nobody can trust or triage</a:t>
            </a:r>
          </a:p>
          <a:p>
            <a:pPr>
              <a:spcAft>
                <a:spcPts val="1500"/>
              </a:spcAft>
            </a:pPr>
            <a:r>
              <a:rPr sz="1800" b="1">
                <a:solidFill>
                  <a:srgbClr val="22D3EE"/>
                </a:solidFill>
                <a:latin typeface="Segoe UI"/>
              </a:rPr>
              <a:t>»  </a:t>
            </a:r>
            <a:r>
              <a:rPr sz="1800" b="0">
                <a:solidFill>
                  <a:srgbClr val="C4D2E4"/>
                </a:solidFill>
                <a:latin typeface="Segoe UI"/>
              </a:rPr>
              <a:t>A finding should mean a reproduced contradiction — nothing less</a:t>
            </a:r>
          </a:p>
          <a:p>
            <a:pPr>
              <a:spcAft>
                <a:spcPts val="1500"/>
              </a:spcAft>
            </a:pPr>
            <a:r>
              <a:rPr sz="1800" b="1">
                <a:solidFill>
                  <a:srgbClr val="22D3EE"/>
                </a:solidFill>
                <a:latin typeface="Segoe UI"/>
              </a:rPr>
              <a:t>»  </a:t>
            </a:r>
            <a:r>
              <a:rPr sz="1800" b="0">
                <a:solidFill>
                  <a:srgbClr val="C4D2E4"/>
                </a:solidFill>
                <a:latin typeface="Segoe UI"/>
              </a:rPr>
              <a:t>And the fix should be proven, not just recommended</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Why Now</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The attack surface exploded; verification didn't keep up</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APIs and microservices multiplied the authorization surface</a:t>
            </a:r>
          </a:p>
          <a:p>
            <a:pPr>
              <a:spcAft>
                <a:spcPts val="1500"/>
              </a:spcAft>
            </a:pPr>
            <a:r>
              <a:rPr sz="1800" b="1">
                <a:solidFill>
                  <a:srgbClr val="22D3EE"/>
                </a:solidFill>
                <a:latin typeface="Segoe UI"/>
              </a:rPr>
              <a:t>»  </a:t>
            </a:r>
            <a:r>
              <a:rPr sz="1800" b="0">
                <a:solidFill>
                  <a:srgbClr val="C4D2E4"/>
                </a:solidFill>
                <a:latin typeface="Segoe UI"/>
              </a:rPr>
              <a:t>Broken access control is the #1 web risk (OWASP Top 10)</a:t>
            </a:r>
          </a:p>
          <a:p>
            <a:pPr>
              <a:spcAft>
                <a:spcPts val="1500"/>
              </a:spcAft>
            </a:pPr>
            <a:r>
              <a:rPr sz="1800" b="1">
                <a:solidFill>
                  <a:srgbClr val="22D3EE"/>
                </a:solidFill>
                <a:latin typeface="Segoe UI"/>
              </a:rPr>
              <a:t>»  </a:t>
            </a:r>
            <a:r>
              <a:rPr sz="1800" b="0">
                <a:solidFill>
                  <a:srgbClr val="C4D2E4"/>
                </a:solidFill>
                <a:latin typeface="Segoe UI"/>
              </a:rPr>
              <a:t>Capable local LLMs make on-prem autonomous reasoning viable</a:t>
            </a:r>
          </a:p>
          <a:p>
            <a:pPr>
              <a:spcAft>
                <a:spcPts val="1500"/>
              </a:spcAft>
            </a:pPr>
            <a:r>
              <a:rPr sz="1800" b="1">
                <a:solidFill>
                  <a:srgbClr val="22D3EE"/>
                </a:solidFill>
                <a:latin typeface="Segoe UI"/>
              </a:rPr>
              <a:t>»  </a:t>
            </a:r>
            <a:r>
              <a:rPr sz="1800" b="0">
                <a:solidFill>
                  <a:srgbClr val="C4D2E4"/>
                </a:solidFill>
                <a:latin typeface="Segoe UI"/>
              </a:rPr>
              <a:t>But raw LLM output is unverifiable — and legally radioactive</a:t>
            </a:r>
          </a:p>
          <a:p>
            <a:pPr>
              <a:spcAft>
                <a:spcPts val="1500"/>
              </a:spcAft>
            </a:pPr>
            <a:r>
              <a:rPr sz="1800" b="1">
                <a:solidFill>
                  <a:srgbClr val="22D3EE"/>
                </a:solidFill>
                <a:latin typeface="Segoe UI"/>
              </a:rPr>
              <a:t>»  </a:t>
            </a:r>
            <a:r>
              <a:rPr sz="1800" b="0">
                <a:solidFill>
                  <a:srgbClr val="C4D2E4"/>
                </a:solidFill>
                <a:latin typeface="Segoe UI"/>
              </a:rPr>
              <a:t>The unlock: bounded AI reasoning + a deterministic ground truth</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Insight — Reason, Don't Signature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Separate discovery from judgement; cage the AI</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Discovery produces hypotheses — explicitly NOT findings</a:t>
            </a:r>
          </a:p>
          <a:p>
            <a:pPr>
              <a:spcAft>
                <a:spcPts val="1500"/>
              </a:spcAft>
            </a:pPr>
            <a:r>
              <a:rPr sz="1800" b="1">
                <a:solidFill>
                  <a:srgbClr val="22D3EE"/>
                </a:solidFill>
                <a:latin typeface="Segoe UI"/>
              </a:rPr>
              <a:t>»  </a:t>
            </a:r>
            <a:r>
              <a:rPr sz="1800" b="0">
                <a:solidFill>
                  <a:srgbClr val="C4D2E4"/>
                </a:solidFill>
                <a:latin typeface="Segoe UI"/>
              </a:rPr>
              <a:t>A pure, deterministic judge owns every verdict</a:t>
            </a:r>
          </a:p>
          <a:p>
            <a:pPr>
              <a:spcAft>
                <a:spcPts val="1500"/>
              </a:spcAft>
            </a:pPr>
            <a:r>
              <a:rPr sz="1800" b="1">
                <a:solidFill>
                  <a:srgbClr val="22D3EE"/>
                </a:solidFill>
                <a:latin typeface="Segoe UI"/>
              </a:rPr>
              <a:t>»  </a:t>
            </a:r>
            <a:r>
              <a:rPr sz="1800" b="0">
                <a:solidFill>
                  <a:srgbClr val="C4D2E4"/>
                </a:solidFill>
                <a:latin typeface="Segoe UI"/>
              </a:rPr>
              <a:t>The LLM is advisory only: it breaks ties, never decides</a:t>
            </a:r>
          </a:p>
          <a:p>
            <a:pPr>
              <a:spcAft>
                <a:spcPts val="1500"/>
              </a:spcAft>
            </a:pPr>
            <a:r>
              <a:rPr sz="1800" b="1">
                <a:solidFill>
                  <a:srgbClr val="22D3EE"/>
                </a:solidFill>
                <a:latin typeface="Segoe UI"/>
              </a:rPr>
              <a:t>»  </a:t>
            </a:r>
            <a:r>
              <a:rPr sz="1800" b="0">
                <a:solidFill>
                  <a:srgbClr val="C4D2E4"/>
                </a:solidFill>
                <a:latin typeface="Segoe UI"/>
              </a:rPr>
              <a:t>Findings crystallize only from reproduced contradictions</a:t>
            </a:r>
          </a:p>
          <a:p>
            <a:pPr>
              <a:spcAft>
                <a:spcPts val="1500"/>
              </a:spcAft>
            </a:pPr>
            <a:r>
              <a:rPr sz="1800" b="1">
                <a:solidFill>
                  <a:srgbClr val="22D3EE"/>
                </a:solidFill>
                <a:latin typeface="Segoe UI"/>
              </a:rPr>
              <a:t>»  </a:t>
            </a:r>
            <a:r>
              <a:rPr sz="1800" b="0">
                <a:solidFill>
                  <a:srgbClr val="C4D2E4"/>
                </a:solidFill>
                <a:latin typeface="Segoe UI"/>
              </a:rPr>
              <a:t>Fixes are proven live — the same judge must flip its verdict</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What Sentinel Is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recon → hypotheses → probe → judge → patch → re-prove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Recon materializes a security graph of the live surface</a:t>
            </a:r>
          </a:p>
          <a:p>
            <a:pPr>
              <a:spcAft>
                <a:spcPts val="1500"/>
              </a:spcAft>
            </a:pPr>
            <a:r>
              <a:rPr sz="1800" b="1">
                <a:solidFill>
                  <a:srgbClr val="22D3EE"/>
                </a:solidFill>
                <a:latin typeface="Segoe UI"/>
              </a:rPr>
              <a:t>»  </a:t>
            </a:r>
            <a:r>
              <a:rPr sz="1800" b="0">
                <a:solidFill>
                  <a:srgbClr val="C4D2E4"/>
                </a:solidFill>
                <a:latin typeface="Segoe UI"/>
              </a:rPr>
              <a:t>Hypotheses = justified, conservative reasons to test</a:t>
            </a:r>
          </a:p>
          <a:p>
            <a:pPr>
              <a:spcAft>
                <a:spcPts val="1500"/>
              </a:spcAft>
            </a:pPr>
            <a:r>
              <a:rPr sz="1800" b="1">
                <a:solidFill>
                  <a:srgbClr val="22D3EE"/>
                </a:solidFill>
                <a:latin typeface="Segoe UI"/>
              </a:rPr>
              <a:t>»  </a:t>
            </a:r>
            <a:r>
              <a:rPr sz="1800" b="0">
                <a:solidFill>
                  <a:srgbClr val="C4D2E4"/>
                </a:solidFill>
                <a:latin typeface="Segoe UI"/>
              </a:rPr>
              <a:t>Scope-guarded probes record facts, never verdicts</a:t>
            </a:r>
          </a:p>
          <a:p>
            <a:pPr>
              <a:spcAft>
                <a:spcPts val="1500"/>
              </a:spcAft>
            </a:pPr>
            <a:r>
              <a:rPr sz="1800" b="1">
                <a:solidFill>
                  <a:srgbClr val="22D3EE"/>
                </a:solidFill>
                <a:latin typeface="Segoe UI"/>
              </a:rPr>
              <a:t>»  </a:t>
            </a:r>
            <a:r>
              <a:rPr sz="1800" b="0">
                <a:solidFill>
                  <a:srgbClr val="C4D2E4"/>
                </a:solidFill>
                <a:latin typeface="Segoe UI"/>
              </a:rPr>
              <a:t>The deterministic judge tests facts against an operator oracle</a:t>
            </a:r>
          </a:p>
          <a:p>
            <a:pPr>
              <a:spcAft>
                <a:spcPts val="1500"/>
              </a:spcAft>
            </a:pPr>
            <a:r>
              <a:rPr sz="1800" b="1">
                <a:solidFill>
                  <a:srgbClr val="22D3EE"/>
                </a:solidFill>
                <a:latin typeface="Segoe UI"/>
              </a:rPr>
              <a:t>»  </a:t>
            </a:r>
            <a:r>
              <a:rPr sz="1800" b="0">
                <a:solidFill>
                  <a:srgbClr val="C4D2E4"/>
                </a:solidFill>
                <a:latin typeface="Segoe UI"/>
              </a:rPr>
              <a:t>Confirmed findings are patched on a shield and re-proven live</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14600"/>
            <a:ext cx="10362895" cy="1371600"/>
          </a:xfrm>
          <a:prstGeom prst="rect">
            <a:avLst/>
          </a:prstGeom>
          <a:noFill/>
        </p:spPr>
        <p:txBody>
          <a:bodyPr wrap="square" anchor="ctr" lIns="0" rIns="0" tIns="0" bIns="0">
            <a:spAutoFit/>
          </a:bodyPr>
          <a:lstStyle/>
          <a:p>
            <a:pPr algn="ctr"/>
            <a:r>
              <a:rPr sz="4000" b="1">
                <a:solidFill>
                  <a:srgbClr val="EAF2FF"/>
                </a:solidFill>
                <a:latin typeface="Consolas"/>
              </a:rPr>
              <a:t>The Epistemic Contract</a:t>
            </a:r>
          </a:p>
        </p:txBody>
      </p:sp>
      <p:pic>
        <p:nvPicPr>
          <p:cNvPr id="4" name="Picture 3" descr="deck_rule.png"/>
          <p:cNvPicPr>
            <a:picLocks noChangeAspect="1"/>
          </p:cNvPicPr>
          <p:nvPr/>
        </p:nvPicPr>
        <p:blipFill>
          <a:blip r:embed="rId3"/>
          <a:stretch>
            <a:fillRect/>
          </a:stretch>
        </p:blipFill>
        <p:spPr>
          <a:xfrm>
            <a:off x="4541367" y="3977639"/>
            <a:ext cx="3108960" cy="56692"/>
          </a:xfrm>
          <a:prstGeom prst="rect">
            <a:avLst/>
          </a:prstGeom>
        </p:spPr>
      </p:pic>
      <p:sp>
        <p:nvSpPr>
          <p:cNvPr id="5" name="TextBox 4"/>
          <p:cNvSpPr txBox="1"/>
          <p:nvPr/>
        </p:nvSpPr>
        <p:spPr>
          <a:xfrm>
            <a:off x="914400" y="4160520"/>
            <a:ext cx="10362895" cy="731520"/>
          </a:xfrm>
          <a:prstGeom prst="rect">
            <a:avLst/>
          </a:prstGeom>
          <a:noFill/>
        </p:spPr>
        <p:txBody>
          <a:bodyPr wrap="square" anchor="t" lIns="0" rIns="0" tIns="0" bIns="0">
            <a:spAutoFit/>
          </a:bodyPr>
          <a:lstStyle/>
          <a:p>
            <a:pPr algn="ctr"/>
            <a:r>
              <a:rPr sz="1800" b="0">
                <a:solidFill>
                  <a:srgbClr val="22D3EE"/>
                </a:solidFill>
                <a:latin typeface="Consolas"/>
              </a:rPr>
              <a:t>Why a Sentinel finding is worth believing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Epistemic Contract</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Hard rules the engine cannot violate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A finding requires the PURE judge to reproduce a contradiction</a:t>
            </a:r>
          </a:p>
          <a:p>
            <a:pPr>
              <a:spcAft>
                <a:spcPts val="1500"/>
              </a:spcAft>
            </a:pPr>
            <a:r>
              <a:rPr sz="1800" b="1">
                <a:solidFill>
                  <a:srgbClr val="2DD48F"/>
                </a:solidFill>
                <a:latin typeface="Segoe UI"/>
              </a:rPr>
              <a:t>»  </a:t>
            </a:r>
            <a:r>
              <a:rPr sz="1800" b="0">
                <a:solidFill>
                  <a:srgbClr val="EAF2FF"/>
                </a:solidFill>
                <a:latin typeface="Segoe UI"/>
              </a:rPr>
              <a:t>vs an operator-declared oracle — never a status code alone</a:t>
            </a:r>
          </a:p>
          <a:p>
            <a:pPr>
              <a:spcAft>
                <a:spcPts val="1500"/>
              </a:spcAft>
            </a:pPr>
            <a:r>
              <a:rPr sz="1800" b="1">
                <a:solidFill>
                  <a:srgbClr val="2DD48F"/>
                </a:solidFill>
                <a:latin typeface="Segoe UI"/>
              </a:rPr>
              <a:t>»  </a:t>
            </a:r>
            <a:r>
              <a:rPr sz="1800" b="0">
                <a:solidFill>
                  <a:srgbClr val="EAF2FF"/>
                </a:solidFill>
                <a:latin typeface="Segoe UI"/>
              </a:rPr>
              <a:t>FIX PROVEN requires that SAME judge to flip under live enforcement</a:t>
            </a:r>
          </a:p>
          <a:p>
            <a:pPr>
              <a:spcAft>
                <a:spcPts val="1500"/>
              </a:spcAft>
            </a:pPr>
            <a:r>
              <a:rPr sz="1800" b="1">
                <a:solidFill>
                  <a:srgbClr val="E84BFF"/>
                </a:solidFill>
                <a:latin typeface="Segoe UI"/>
              </a:rPr>
              <a:t>»  </a:t>
            </a:r>
            <a:r>
              <a:rPr sz="1800" b="0">
                <a:solidFill>
                  <a:srgbClr val="C4D2E4"/>
                </a:solidFill>
                <a:latin typeface="Segoe UI"/>
              </a:rPr>
              <a:t>The AI never manufactures a finding, verdict, or evidence</a:t>
            </a:r>
          </a:p>
          <a:p>
            <a:pPr>
              <a:spcAft>
                <a:spcPts val="1500"/>
              </a:spcAft>
            </a:pPr>
            <a:r>
              <a:rPr sz="1800" b="1">
                <a:solidFill>
                  <a:srgbClr val="E84BFF"/>
                </a:solidFill>
                <a:latin typeface="Segoe UI"/>
              </a:rPr>
              <a:t>»  </a:t>
            </a:r>
            <a:r>
              <a:rPr sz="1800" b="0">
                <a:solidFill>
                  <a:srgbClr val="C4D2E4"/>
                </a:solidFill>
                <a:latin typeface="Segoe UI"/>
              </a:rPr>
              <a:t>A compliant control → DISPROVED → no finding (honest differential)</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Deterministic Judge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The caged advisor — smart search, bounded authority</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A transparent score ranks candidates; information gain decays</a:t>
            </a:r>
          </a:p>
          <a:p>
            <a:pPr>
              <a:spcAft>
                <a:spcPts val="1500"/>
              </a:spcAft>
            </a:pPr>
            <a:r>
              <a:rPr sz="1800" b="1">
                <a:solidFill>
                  <a:srgbClr val="22D3EE"/>
                </a:solidFill>
                <a:latin typeface="Segoe UI"/>
              </a:rPr>
              <a:t>»  </a:t>
            </a:r>
            <a:r>
              <a:rPr sz="1800" b="0">
                <a:solidFill>
                  <a:srgbClr val="C4D2E4"/>
                </a:solidFill>
                <a:latin typeface="Segoe UI"/>
              </a:rPr>
              <a:t>The local LLM is consulted only to break top ties</a:t>
            </a:r>
          </a:p>
          <a:p>
            <a:pPr>
              <a:spcAft>
                <a:spcPts val="1500"/>
              </a:spcAft>
            </a:pPr>
            <a:r>
              <a:rPr sz="1800" b="1">
                <a:solidFill>
                  <a:srgbClr val="22D3EE"/>
                </a:solidFill>
                <a:latin typeface="Segoe UI"/>
              </a:rPr>
              <a:t>»  </a:t>
            </a:r>
            <a:r>
              <a:rPr sz="1800" b="0">
                <a:solidFill>
                  <a:srgbClr val="C4D2E4"/>
                </a:solidFill>
                <a:latin typeface="Segoe UI"/>
              </a:rPr>
              <a:t>It picks by list index mapped to a real id — can't invent targets</a:t>
            </a:r>
          </a:p>
          <a:p>
            <a:pPr>
              <a:spcAft>
                <a:spcPts val="1500"/>
              </a:spcAft>
            </a:pPr>
            <a:r>
              <a:rPr sz="1800" b="1">
                <a:solidFill>
                  <a:srgbClr val="22D3EE"/>
                </a:solidFill>
                <a:latin typeface="Segoe UI"/>
              </a:rPr>
              <a:t>»  </a:t>
            </a:r>
            <a:r>
              <a:rPr sz="1800" b="0">
                <a:solidFill>
                  <a:srgbClr val="C4D2E4"/>
                </a:solidFill>
                <a:latin typeface="Segoe UI"/>
              </a:rPr>
              <a:t>Every judgement ships a human-readable rationale trail</a:t>
            </a:r>
          </a:p>
          <a:p>
            <a:pPr>
              <a:spcAft>
                <a:spcPts val="1500"/>
              </a:spcAft>
            </a:pPr>
            <a:r>
              <a:rPr sz="1800" b="1">
                <a:solidFill>
                  <a:srgbClr val="22D3EE"/>
                </a:solidFill>
                <a:latin typeface="Segoe UI"/>
              </a:rPr>
              <a:t>»  </a:t>
            </a:r>
            <a:r>
              <a:rPr sz="1800" b="0">
                <a:solidFill>
                  <a:srgbClr val="C4D2E4"/>
                </a:solidFill>
                <a:latin typeface="Segoe UI"/>
              </a:rPr>
              <a:t>AI reasoning is shown as telemetry, never as authority</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Architecture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 security graph, a scope guard, and a loopback shield</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Security graph: hosts, resources, principals, evidence, findings</a:t>
            </a:r>
          </a:p>
          <a:p>
            <a:pPr>
              <a:spcAft>
                <a:spcPts val="1500"/>
              </a:spcAft>
            </a:pPr>
            <a:r>
              <a:rPr sz="1800" b="1">
                <a:solidFill>
                  <a:srgbClr val="22D3EE"/>
                </a:solidFill>
                <a:latin typeface="Segoe UI"/>
              </a:rPr>
              <a:t>»  </a:t>
            </a:r>
            <a:r>
              <a:rPr sz="1800" b="0">
                <a:solidFill>
                  <a:srgbClr val="C4D2E4"/>
                </a:solidFill>
                <a:latin typeface="Segoe UI"/>
              </a:rPr>
              <a:t>Pre-connection scope guard refuses out-of-scope probes</a:t>
            </a:r>
          </a:p>
          <a:p>
            <a:pPr>
              <a:spcAft>
                <a:spcPts val="1500"/>
              </a:spcAft>
            </a:pPr>
            <a:r>
              <a:rPr sz="1800" b="1">
                <a:solidFill>
                  <a:srgbClr val="22D3EE"/>
                </a:solidFill>
                <a:latin typeface="Segoe UI"/>
              </a:rPr>
              <a:t>»  </a:t>
            </a:r>
            <a:r>
              <a:rPr sz="1800" b="0">
                <a:solidFill>
                  <a:srgbClr val="C4D2E4"/>
                </a:solidFill>
                <a:latin typeface="Segoe UI"/>
              </a:rPr>
              <a:t>Twelve pure judges: authz · posture · cookies · privesc · SQLi · SSTI · XSS · traversal · redirect · CORS · SSRF · JWT</a:t>
            </a:r>
          </a:p>
          <a:p>
            <a:pPr>
              <a:spcAft>
                <a:spcPts val="1500"/>
              </a:spcAft>
            </a:pPr>
            <a:r>
              <a:rPr sz="1800" b="1">
                <a:solidFill>
                  <a:srgbClr val="22D3EE"/>
                </a:solidFill>
                <a:latin typeface="Segoe UI"/>
              </a:rPr>
              <a:t>»  </a:t>
            </a:r>
            <a:r>
              <a:rPr sz="1800" b="0">
                <a:solidFill>
                  <a:srgbClr val="C4D2E4"/>
                </a:solidFill>
                <a:latin typeface="Segoe UI"/>
              </a:rPr>
              <a:t>RemediationEnforcer: an ephemeral loopback reverse-proxy shield</a:t>
            </a:r>
          </a:p>
          <a:p>
            <a:pPr>
              <a:spcAft>
                <a:spcPts val="1500"/>
              </a:spcAft>
            </a:pPr>
            <a:r>
              <a:rPr sz="1800" b="1">
                <a:solidFill>
                  <a:srgbClr val="22D3EE"/>
                </a:solidFill>
                <a:latin typeface="Segoe UI"/>
              </a:rPr>
              <a:t>»  </a:t>
            </a:r>
            <a:r>
              <a:rPr sz="1800" b="0">
                <a:solidFill>
                  <a:srgbClr val="C4D2E4"/>
                </a:solidFill>
                <a:latin typeface="Segoe UI"/>
              </a:rPr>
              <a:t>Local model via Ollama (qwen3:4b) — no cloud, no data egress</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09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14600"/>
            <a:ext cx="10362895" cy="1371600"/>
          </a:xfrm>
          <a:prstGeom prst="rect">
            <a:avLst/>
          </a:prstGeom>
          <a:noFill/>
        </p:spPr>
        <p:txBody>
          <a:bodyPr wrap="square" anchor="ctr" lIns="0" rIns="0" tIns="0" bIns="0">
            <a:spAutoFit/>
          </a:bodyPr>
          <a:lstStyle/>
          <a:p>
            <a:pPr algn="ctr"/>
            <a:r>
              <a:rPr sz="4000" b="1">
                <a:solidFill>
                  <a:srgbClr val="EAF2FF"/>
                </a:solidFill>
                <a:latin typeface="Consolas"/>
              </a:rPr>
              <a:t>Live, End-to-End</a:t>
            </a:r>
          </a:p>
        </p:txBody>
      </p:sp>
      <p:pic>
        <p:nvPicPr>
          <p:cNvPr id="4" name="Picture 3" descr="deck_rule.png"/>
          <p:cNvPicPr>
            <a:picLocks noChangeAspect="1"/>
          </p:cNvPicPr>
          <p:nvPr/>
        </p:nvPicPr>
        <p:blipFill>
          <a:blip r:embed="rId3"/>
          <a:stretch>
            <a:fillRect/>
          </a:stretch>
        </p:blipFill>
        <p:spPr>
          <a:xfrm>
            <a:off x="4541367" y="3977639"/>
            <a:ext cx="3108960" cy="56692"/>
          </a:xfrm>
          <a:prstGeom prst="rect">
            <a:avLst/>
          </a:prstGeom>
        </p:spPr>
      </p:pic>
      <p:sp>
        <p:nvSpPr>
          <p:cNvPr id="5" name="TextBox 4"/>
          <p:cNvSpPr txBox="1"/>
          <p:nvPr/>
        </p:nvSpPr>
        <p:spPr>
          <a:xfrm>
            <a:off x="914400" y="4160520"/>
            <a:ext cx="10362895" cy="731520"/>
          </a:xfrm>
          <a:prstGeom prst="rect">
            <a:avLst/>
          </a:prstGeom>
          <a:noFill/>
        </p:spPr>
        <p:txBody>
          <a:bodyPr wrap="square" anchor="t" lIns="0" rIns="0" tIns="0" bIns="0">
            <a:spAutoFit/>
          </a:bodyPr>
          <a:lstStyle/>
          <a:p>
            <a:pPr algn="ctr"/>
            <a:r>
              <a:rPr sz="1800" b="0">
                <a:solidFill>
                  <a:srgbClr val="22D3EE"/>
                </a:solidFill>
                <a:latin typeface="Consolas"/>
              </a:rPr>
              <a:t>Real screenshots — every verdict produced by the engine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FIND — Recon → Oracle → Hypotheses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It models the surface, then reasons about it</a:t>
            </a:r>
          </a:p>
        </p:txBody>
      </p:sp>
      <p:pic>
        <p:nvPicPr>
          <p:cNvPr id="8" name="Picture 7" descr="shot_recon.png"/>
          <p:cNvPicPr>
            <a:picLocks noChangeAspect="1"/>
          </p:cNvPicPr>
          <p:nvPr/>
        </p:nvPicPr>
        <p:blipFill>
          <a:blip r:embed="rId5"/>
          <a:stretch>
            <a:fillRect/>
          </a:stretch>
        </p:blipFill>
        <p:spPr>
          <a:xfrm>
            <a:off x="3852924" y="2331720"/>
            <a:ext cx="4455671" cy="3703320"/>
          </a:xfrm>
          <a:prstGeom prst="rect">
            <a:avLst/>
          </a:prstGeom>
        </p:spPr>
      </p:pic>
      <p:sp>
        <p:nvSpPr>
          <p:cNvPr id="9" name="TextBox 8"/>
          <p:cNvSpPr txBox="1"/>
          <p:nvPr/>
        </p:nvSpPr>
        <p:spPr>
          <a:xfrm>
            <a:off x="914400" y="6089903"/>
            <a:ext cx="10332720" cy="365760"/>
          </a:xfrm>
          <a:prstGeom prst="rect">
            <a:avLst/>
          </a:prstGeom>
          <a:noFill/>
        </p:spPr>
        <p:txBody>
          <a:bodyPr wrap="square" anchor="t" lIns="0" rIns="0" tIns="0" bIns="0">
            <a:spAutoFit/>
          </a:bodyPr>
          <a:lstStyle/>
          <a:p>
            <a:pPr algn="ctr"/>
            <a:r>
              <a:rPr sz="1200" b="0">
                <a:solidFill>
                  <a:srgbClr val="6B7A90"/>
                </a:solidFill>
                <a:latin typeface="Consolas"/>
              </a:rPr>
              <a:t>Live capture: recon graph, the operator oracle, and seeded hypotheses.</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Decision Board</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Autonomous research cycles, fully auditable</a:t>
            </a:r>
          </a:p>
        </p:txBody>
      </p:sp>
      <p:pic>
        <p:nvPicPr>
          <p:cNvPr id="8" name="Picture 7" descr="shot_cycles.png"/>
          <p:cNvPicPr>
            <a:picLocks noChangeAspect="1"/>
          </p:cNvPicPr>
          <p:nvPr/>
        </p:nvPicPr>
        <p:blipFill>
          <a:blip r:embed="rId5"/>
          <a:stretch>
            <a:fillRect/>
          </a:stretch>
        </p:blipFill>
        <p:spPr>
          <a:xfrm>
            <a:off x="7504996" y="2331720"/>
            <a:ext cx="3140846"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One scope-checked probe per cycle</a:t>
            </a:r>
          </a:p>
          <a:p>
            <a:pPr>
              <a:spcAft>
                <a:spcPts val="1200"/>
              </a:spcAft>
            </a:pPr>
            <a:r>
              <a:rPr sz="1600" b="1">
                <a:solidFill>
                  <a:srgbClr val="22D3EE"/>
                </a:solidFill>
                <a:latin typeface="Segoe UI"/>
              </a:rPr>
              <a:t>»  </a:t>
            </a:r>
            <a:r>
              <a:rPr sz="1600" b="0">
                <a:solidFill>
                  <a:srgbClr val="C4D2E4"/>
                </a:solidFill>
                <a:latin typeface="Segoe UI"/>
              </a:rPr>
              <a:t>Deterministic score picks the next test</a:t>
            </a:r>
          </a:p>
          <a:p>
            <a:pPr>
              <a:spcAft>
                <a:spcPts val="1200"/>
              </a:spcAft>
            </a:pPr>
            <a:r>
              <a:rPr sz="1600" b="1">
                <a:solidFill>
                  <a:srgbClr val="22D3EE"/>
                </a:solidFill>
                <a:latin typeface="Segoe UI"/>
              </a:rPr>
              <a:t>»  </a:t>
            </a:r>
            <a:r>
              <a:rPr sz="1600" b="0">
                <a:solidFill>
                  <a:srgbClr val="C4D2E4"/>
                </a:solidFill>
                <a:latin typeface="Segoe UI"/>
              </a:rPr>
              <a:t>Advisor consulted only on ties</a:t>
            </a:r>
          </a:p>
          <a:p>
            <a:pPr>
              <a:spcAft>
                <a:spcPts val="1200"/>
              </a:spcAft>
            </a:pPr>
            <a:r>
              <a:rPr sz="1600" b="1">
                <a:solidFill>
                  <a:srgbClr val="22D3EE"/>
                </a:solidFill>
                <a:latin typeface="Segoe UI"/>
              </a:rPr>
              <a:t>»  </a:t>
            </a:r>
            <a:r>
              <a:rPr sz="1600" b="0">
                <a:solidFill>
                  <a:srgbClr val="C4D2E4"/>
                </a:solidFill>
                <a:latin typeface="Segoe UI"/>
              </a:rPr>
              <a:t>Every choice carries a rationale</a:t>
            </a:r>
          </a:p>
          <a:p>
            <a:pPr>
              <a:spcAft>
                <a:spcPts val="1200"/>
              </a:spcAft>
            </a:pPr>
            <a:r>
              <a:rPr sz="1600" b="1">
                <a:solidFill>
                  <a:srgbClr val="22D3EE"/>
                </a:solidFill>
                <a:latin typeface="Segoe UI"/>
              </a:rPr>
              <a:t>»  </a:t>
            </a:r>
            <a:r>
              <a:rPr sz="1600" b="0">
                <a:solidFill>
                  <a:srgbClr val="C4D2E4"/>
                </a:solidFill>
                <a:latin typeface="Segoe UI"/>
              </a:rPr>
              <a:t>Dead leads decay and are abandoned</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CONFIRMED — Broken Access Control</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 reproduced contradiction, not a guess</a:t>
            </a:r>
          </a:p>
        </p:txBody>
      </p:sp>
      <p:pic>
        <p:nvPicPr>
          <p:cNvPr id="8" name="Picture 7" descr="shot_findings.png"/>
          <p:cNvPicPr>
            <a:picLocks noChangeAspect="1"/>
          </p:cNvPicPr>
          <p:nvPr/>
        </p:nvPicPr>
        <p:blipFill>
          <a:blip r:embed="rId5"/>
          <a:stretch>
            <a:fillRect/>
          </a:stretch>
        </p:blipFill>
        <p:spPr>
          <a:xfrm>
            <a:off x="6400800" y="3367521"/>
            <a:ext cx="5349240" cy="1723156"/>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Oracle: anonymous MUST be denied /api/Feedbacks</a:t>
            </a:r>
          </a:p>
          <a:p>
            <a:pPr>
              <a:spcAft>
                <a:spcPts val="1200"/>
              </a:spcAft>
            </a:pPr>
            <a:r>
              <a:rPr sz="1600" b="1">
                <a:solidFill>
                  <a:srgbClr val="22D3EE"/>
                </a:solidFill>
                <a:latin typeface="Segoe UI"/>
              </a:rPr>
              <a:t>»  </a:t>
            </a:r>
            <a:r>
              <a:rPr sz="1600" b="0">
                <a:solidFill>
                  <a:srgbClr val="C4D2E4"/>
                </a:solidFill>
                <a:latin typeface="Segoe UI"/>
              </a:rPr>
              <a:t>Observed: the whole collection leaks (200)</a:t>
            </a:r>
          </a:p>
          <a:p>
            <a:pPr>
              <a:spcAft>
                <a:spcPts val="1200"/>
              </a:spcAft>
            </a:pPr>
            <a:r>
              <a:rPr sz="1600" b="1">
                <a:solidFill>
                  <a:srgbClr val="22D3EE"/>
                </a:solidFill>
                <a:latin typeface="Segoe UI"/>
              </a:rPr>
              <a:t>»  </a:t>
            </a:r>
            <a:r>
              <a:rPr sz="1600" b="0">
                <a:solidFill>
                  <a:srgbClr val="C4D2E4"/>
                </a:solidFill>
                <a:latin typeface="Segoe UI"/>
              </a:rPr>
              <a:t>Judge reproduces the contradiction → CONFIRMED</a:t>
            </a:r>
          </a:p>
          <a:p>
            <a:pPr>
              <a:spcAft>
                <a:spcPts val="1200"/>
              </a:spcAft>
            </a:pPr>
            <a:r>
              <a:rPr sz="1600" b="1">
                <a:solidFill>
                  <a:srgbClr val="22D3EE"/>
                </a:solidFill>
                <a:latin typeface="Segoe UI"/>
              </a:rPr>
              <a:t>»  </a:t>
            </a:r>
            <a:r>
              <a:rPr sz="1600" b="0">
                <a:solidFill>
                  <a:srgbClr val="C4D2E4"/>
                </a:solidFill>
                <a:latin typeface="Segoe UI"/>
              </a:rPr>
              <a:t>The compliant control (/api/Users, 401) → no finding</a:t>
            </a:r>
          </a:p>
          <a:p>
            <a:pPr>
              <a:spcAft>
                <a:spcPts val="1200"/>
              </a:spcAft>
            </a:pPr>
            <a:r>
              <a:rPr sz="1600" b="1">
                <a:solidFill>
                  <a:srgbClr val="22D3EE"/>
                </a:solidFill>
                <a:latin typeface="Segoe UI"/>
              </a:rPr>
              <a:t>»  </a:t>
            </a:r>
            <a:r>
              <a:rPr sz="1600" b="0">
                <a:solidFill>
                  <a:srgbClr val="C4D2E4"/>
                </a:solidFill>
                <a:latin typeface="Segoe UI"/>
              </a:rPr>
              <a:t>Confidence and provenance travel with the finding</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PATCH + PROVE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The fix is proven live, not recommended</a:t>
            </a:r>
          </a:p>
        </p:txBody>
      </p:sp>
      <p:pic>
        <p:nvPicPr>
          <p:cNvPr id="8" name="Picture 7" descr="shot_patch_prove.png"/>
          <p:cNvPicPr>
            <a:picLocks noChangeAspect="1"/>
          </p:cNvPicPr>
          <p:nvPr/>
        </p:nvPicPr>
        <p:blipFill>
          <a:blip r:embed="rId5"/>
          <a:stretch>
            <a:fillRect/>
          </a:stretch>
        </p:blipFill>
        <p:spPr>
          <a:xfrm>
            <a:off x="6400800" y="3115405"/>
            <a:ext cx="5349240" cy="2227388"/>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DD48F"/>
                </a:solidFill>
                <a:latin typeface="Segoe UI"/>
              </a:rPr>
              <a:t>»  </a:t>
            </a:r>
            <a:r>
              <a:rPr sz="1600" b="0">
                <a:solidFill>
                  <a:srgbClr val="EAF2FF"/>
                </a:solidFill>
                <a:latin typeface="Segoe UI"/>
              </a:rPr>
              <a:t>Synthesize a corrective control for the finding</a:t>
            </a:r>
          </a:p>
          <a:p>
            <a:pPr>
              <a:spcAft>
                <a:spcPts val="1200"/>
              </a:spcAft>
            </a:pPr>
            <a:r>
              <a:rPr sz="1600" b="1">
                <a:solidFill>
                  <a:srgbClr val="2DD48F"/>
                </a:solidFill>
                <a:latin typeface="Segoe UI"/>
              </a:rPr>
              <a:t>»  </a:t>
            </a:r>
            <a:r>
              <a:rPr sz="1600" b="0">
                <a:solidFill>
                  <a:srgbClr val="EAF2FF"/>
                </a:solidFill>
                <a:latin typeface="Segoe UI"/>
              </a:rPr>
              <a:t>Enforce it on an ephemeral loopback shield</a:t>
            </a:r>
          </a:p>
          <a:p>
            <a:pPr>
              <a:spcAft>
                <a:spcPts val="1200"/>
              </a:spcAft>
            </a:pPr>
            <a:r>
              <a:rPr sz="1600" b="1">
                <a:solidFill>
                  <a:srgbClr val="2DD48F"/>
                </a:solidFill>
                <a:latin typeface="Segoe UI"/>
              </a:rPr>
              <a:t>»  </a:t>
            </a:r>
            <a:r>
              <a:rPr sz="1600" b="0">
                <a:solidFill>
                  <a:srgbClr val="EAF2FF"/>
                </a:solidFill>
                <a:latin typeface="Segoe UI"/>
              </a:rPr>
              <a:t>Re-run the SAME pure judge through the shield</a:t>
            </a:r>
          </a:p>
          <a:p>
            <a:pPr>
              <a:spcAft>
                <a:spcPts val="1200"/>
              </a:spcAft>
            </a:pPr>
            <a:r>
              <a:rPr sz="1600" b="1">
                <a:solidFill>
                  <a:srgbClr val="2DD48F"/>
                </a:solidFill>
                <a:latin typeface="Segoe UI"/>
              </a:rPr>
              <a:t>»  </a:t>
            </a:r>
            <a:r>
              <a:rPr sz="1600" b="0">
                <a:solidFill>
                  <a:srgbClr val="EAF2FF"/>
                </a:solidFill>
                <a:latin typeface="Segoe UI"/>
              </a:rPr>
              <a:t>before 200 VALIDATED → after 403 DISPROVED = FIX PROVEN</a:t>
            </a:r>
          </a:p>
          <a:p>
            <a:pPr>
              <a:spcAft>
                <a:spcPts val="1200"/>
              </a:spcAft>
            </a:pPr>
            <a:r>
              <a:rPr sz="1600" b="1">
                <a:solidFill>
                  <a:srgbClr val="2DD48F"/>
                </a:solidFill>
                <a:latin typeface="Segoe UI"/>
              </a:rPr>
              <a:t>»  </a:t>
            </a:r>
            <a:r>
              <a:rPr sz="1600" b="0">
                <a:solidFill>
                  <a:srgbClr val="EAF2FF"/>
                </a:solidFill>
                <a:latin typeface="Segoe UI"/>
              </a:rPr>
              <a:t>Portable artifacts: nginx · envoy · caddy · JSON</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14600"/>
            <a:ext cx="10362895" cy="1371600"/>
          </a:xfrm>
          <a:prstGeom prst="rect">
            <a:avLst/>
          </a:prstGeom>
          <a:noFill/>
        </p:spPr>
        <p:txBody>
          <a:bodyPr wrap="square" anchor="ctr" lIns="0" rIns="0" tIns="0" bIns="0">
            <a:spAutoFit/>
          </a:bodyPr>
          <a:lstStyle/>
          <a:p>
            <a:pPr algn="ctr"/>
            <a:r>
              <a:rPr sz="4000" b="1">
                <a:solidFill>
                  <a:srgbClr val="EAF2FF"/>
                </a:solidFill>
                <a:latin typeface="Consolas"/>
              </a:rPr>
              <a:t>Twelve Vulnerability Classes</a:t>
            </a:r>
          </a:p>
        </p:txBody>
      </p:sp>
      <p:pic>
        <p:nvPicPr>
          <p:cNvPr id="4" name="Picture 3" descr="deck_rule.png"/>
          <p:cNvPicPr>
            <a:picLocks noChangeAspect="1"/>
          </p:cNvPicPr>
          <p:nvPr/>
        </p:nvPicPr>
        <p:blipFill>
          <a:blip r:embed="rId3"/>
          <a:stretch>
            <a:fillRect/>
          </a:stretch>
        </p:blipFill>
        <p:spPr>
          <a:xfrm>
            <a:off x="4541367" y="3977639"/>
            <a:ext cx="3108960" cy="56692"/>
          </a:xfrm>
          <a:prstGeom prst="rect">
            <a:avLst/>
          </a:prstGeom>
        </p:spPr>
      </p:pic>
      <p:sp>
        <p:nvSpPr>
          <p:cNvPr id="5" name="TextBox 4"/>
          <p:cNvSpPr txBox="1"/>
          <p:nvPr/>
        </p:nvSpPr>
        <p:spPr>
          <a:xfrm>
            <a:off x="914400" y="4160520"/>
            <a:ext cx="10362895" cy="731520"/>
          </a:xfrm>
          <a:prstGeom prst="rect">
            <a:avLst/>
          </a:prstGeom>
          <a:noFill/>
        </p:spPr>
        <p:txBody>
          <a:bodyPr wrap="square" anchor="t" lIns="0" rIns="0" tIns="0" bIns="0">
            <a:spAutoFit/>
          </a:bodyPr>
          <a:lstStyle/>
          <a:p>
            <a:pPr algn="ctr"/>
            <a:r>
              <a:rPr sz="1800" b="0">
                <a:solidFill>
                  <a:srgbClr val="22D3EE"/>
                </a:solidFill>
                <a:latin typeface="Consolas"/>
              </a:rPr>
              <a:t>Each closes the full find → patch → prove loop, live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 1 — Broken Access Control</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authorization_policy_violation</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Operator declares who may do what (the access oracle)</a:t>
            </a:r>
          </a:p>
          <a:p>
            <a:pPr>
              <a:spcAft>
                <a:spcPts val="1500"/>
              </a:spcAft>
            </a:pPr>
            <a:r>
              <a:rPr sz="1800" b="1">
                <a:solidFill>
                  <a:srgbClr val="22D3EE"/>
                </a:solidFill>
                <a:latin typeface="Segoe UI"/>
              </a:rPr>
              <a:t>»  </a:t>
            </a:r>
            <a:r>
              <a:rPr sz="1800" b="0">
                <a:solidFill>
                  <a:srgbClr val="C4D2E4"/>
                </a:solidFill>
                <a:latin typeface="Segoe UI"/>
              </a:rPr>
              <a:t>Sentinel probes each rule as the declared principal</a:t>
            </a:r>
          </a:p>
          <a:p>
            <a:pPr>
              <a:spcAft>
                <a:spcPts val="1500"/>
              </a:spcAft>
            </a:pPr>
            <a:r>
              <a:rPr sz="1800" b="1">
                <a:solidFill>
                  <a:srgbClr val="22D3EE"/>
                </a:solidFill>
                <a:latin typeface="Segoe UI"/>
              </a:rPr>
              <a:t>»  </a:t>
            </a:r>
            <a:r>
              <a:rPr sz="1800" b="0">
                <a:solidFill>
                  <a:srgbClr val="C4D2E4"/>
                </a:solidFill>
                <a:latin typeface="Segoe UI"/>
              </a:rPr>
              <a:t>Judge confirms only reproduced authorization contradictions</a:t>
            </a:r>
          </a:p>
          <a:p>
            <a:pPr>
              <a:spcAft>
                <a:spcPts val="1500"/>
              </a:spcAft>
            </a:pPr>
            <a:r>
              <a:rPr sz="1800" b="1">
                <a:solidFill>
                  <a:srgbClr val="22D3EE"/>
                </a:solidFill>
                <a:latin typeface="Segoe UI"/>
              </a:rPr>
              <a:t>»  </a:t>
            </a:r>
            <a:r>
              <a:rPr sz="1800" b="0">
                <a:solidFill>
                  <a:srgbClr val="C4D2E4"/>
                </a:solidFill>
                <a:latin typeface="Segoe UI"/>
              </a:rPr>
              <a:t>Authenticated mode re-points rules to a captured session</a:t>
            </a:r>
          </a:p>
          <a:p>
            <a:pPr>
              <a:spcAft>
                <a:spcPts val="1500"/>
              </a:spcAft>
            </a:pPr>
            <a:r>
              <a:rPr sz="1800" b="1">
                <a:solidFill>
                  <a:srgbClr val="22D3EE"/>
                </a:solidFill>
                <a:latin typeface="Segoe UI"/>
              </a:rPr>
              <a:t>»  </a:t>
            </a:r>
            <a:r>
              <a:rPr sz="1800" b="0">
                <a:solidFill>
                  <a:srgbClr val="C4D2E4"/>
                </a:solidFill>
                <a:latin typeface="Segoe UI"/>
              </a:rPr>
              <a:t>Fix: deny/allow enforcement proven on the shield</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 2 — Security-Header Posture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security_misconfiguration</a:t>
            </a:r>
          </a:p>
        </p:txBody>
      </p:sp>
      <p:pic>
        <p:nvPicPr>
          <p:cNvPr id="8" name="Picture 7" descr="shot_posture.png"/>
          <p:cNvPicPr>
            <a:picLocks noChangeAspect="1"/>
          </p:cNvPicPr>
          <p:nvPr/>
        </p:nvPicPr>
        <p:blipFill>
          <a:blip r:embed="rId5"/>
          <a:stretch>
            <a:fillRect/>
          </a:stretch>
        </p:blipFill>
        <p:spPr>
          <a:xfrm>
            <a:off x="8038786" y="2331720"/>
            <a:ext cx="2073267"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Declared posture: CSP, CORS, Referrer-Policy, …</a:t>
            </a:r>
          </a:p>
          <a:p>
            <a:pPr>
              <a:spcAft>
                <a:spcPts val="1200"/>
              </a:spcAft>
            </a:pPr>
            <a:r>
              <a:rPr sz="1600" b="1">
                <a:solidFill>
                  <a:srgbClr val="22D3EE"/>
                </a:solidFill>
                <a:latin typeface="Segoe UI"/>
              </a:rPr>
              <a:t>»  </a:t>
            </a:r>
            <a:r>
              <a:rPr sz="1600" b="0">
                <a:solidFill>
                  <a:srgbClr val="C4D2E4"/>
                </a:solidFill>
                <a:latin typeface="Segoe UI"/>
              </a:rPr>
              <a:t>Judge reads the LIVE response headers</a:t>
            </a:r>
          </a:p>
          <a:p>
            <a:pPr>
              <a:spcAft>
                <a:spcPts val="1200"/>
              </a:spcAft>
            </a:pPr>
            <a:r>
              <a:rPr sz="1600" b="1">
                <a:solidFill>
                  <a:srgbClr val="22D3EE"/>
                </a:solidFill>
                <a:latin typeface="Segoe UI"/>
              </a:rPr>
              <a:t>»  </a:t>
            </a:r>
            <a:r>
              <a:rPr sz="1600" b="0">
                <a:solidFill>
                  <a:srgbClr val="C4D2E4"/>
                </a:solidFill>
                <a:latin typeface="Segoe UI"/>
              </a:rPr>
              <a:t>Absent CSP, wildcard CORS → CONFIRMED</a:t>
            </a:r>
          </a:p>
          <a:p>
            <a:pPr>
              <a:spcAft>
                <a:spcPts val="1200"/>
              </a:spcAft>
            </a:pPr>
            <a:r>
              <a:rPr sz="1600" b="1">
                <a:solidFill>
                  <a:srgbClr val="22D3EE"/>
                </a:solidFill>
                <a:latin typeface="Segoe UI"/>
              </a:rPr>
              <a:t>»  </a:t>
            </a:r>
            <a:r>
              <a:rPr sz="1600" b="0">
                <a:solidFill>
                  <a:srgbClr val="C4D2E4"/>
                </a:solidFill>
                <a:latin typeface="Segoe UI"/>
              </a:rPr>
              <a:t>Present nosniff control → DISPROVED, no finding</a:t>
            </a:r>
          </a:p>
          <a:p>
            <a:pPr>
              <a:spcAft>
                <a:spcPts val="1200"/>
              </a:spcAft>
            </a:pPr>
            <a:r>
              <a:rPr sz="1600" b="1">
                <a:solidFill>
                  <a:srgbClr val="2DD48F"/>
                </a:solidFill>
                <a:latin typeface="Segoe UI"/>
              </a:rPr>
              <a:t>»  </a:t>
            </a:r>
            <a:r>
              <a:rPr sz="1600" b="0">
                <a:solidFill>
                  <a:srgbClr val="EAF2FF"/>
                </a:solidFill>
                <a:latin typeface="Segoe UI"/>
              </a:rPr>
              <a:t>Shield injects/strips headers → re-proven</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 3 — Insecure Cookies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insecure_cookie — the session-theft pivot</a:t>
            </a:r>
          </a:p>
        </p:txBody>
      </p:sp>
      <p:pic>
        <p:nvPicPr>
          <p:cNvPr id="8" name="Picture 7" descr="shot_cookie.png"/>
          <p:cNvPicPr>
            <a:picLocks noChangeAspect="1"/>
          </p:cNvPicPr>
          <p:nvPr/>
        </p:nvPicPr>
        <p:blipFill>
          <a:blip r:embed="rId5"/>
          <a:stretch>
            <a:fillRect/>
          </a:stretch>
        </p:blipFill>
        <p:spPr>
          <a:xfrm>
            <a:off x="7454409" y="2331720"/>
            <a:ext cx="3242021"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Grounded in OBSERVED Set-Cookie — never guessed</a:t>
            </a:r>
          </a:p>
          <a:p>
            <a:pPr>
              <a:spcAft>
                <a:spcPts val="1200"/>
              </a:spcAft>
            </a:pPr>
            <a:r>
              <a:rPr sz="1600" b="1">
                <a:solidFill>
                  <a:srgbClr val="22D3EE"/>
                </a:solidFill>
                <a:latin typeface="Segoe UI"/>
              </a:rPr>
              <a:t>»  </a:t>
            </a:r>
            <a:r>
              <a:rPr sz="1600" b="0">
                <a:solidFill>
                  <a:srgbClr val="C4D2E4"/>
                </a:solidFill>
                <a:latin typeface="Segoe UI"/>
              </a:rPr>
              <a:t>Missing HttpOnly / Secure, weak SameSite</a:t>
            </a:r>
          </a:p>
          <a:p>
            <a:pPr>
              <a:spcAft>
                <a:spcPts val="1200"/>
              </a:spcAft>
            </a:pPr>
            <a:r>
              <a:rPr sz="1600" b="1">
                <a:solidFill>
                  <a:srgbClr val="22D3EE"/>
                </a:solidFill>
                <a:latin typeface="Segoe UI"/>
              </a:rPr>
              <a:t>»  </a:t>
            </a:r>
            <a:r>
              <a:rPr sz="1600" b="0">
                <a:solidFill>
                  <a:srgbClr val="C4D2E4"/>
                </a:solidFill>
                <a:latin typeface="Segoe UI"/>
              </a:rPr>
              <a:t>The classic XSS→session-theft chaining ingredient</a:t>
            </a:r>
          </a:p>
          <a:p>
            <a:pPr>
              <a:spcAft>
                <a:spcPts val="1200"/>
              </a:spcAft>
            </a:pPr>
            <a:r>
              <a:rPr sz="1600" b="1">
                <a:solidFill>
                  <a:srgbClr val="2DD48F"/>
                </a:solidFill>
                <a:latin typeface="Segoe UI"/>
              </a:rPr>
              <a:t>»  </a:t>
            </a:r>
            <a:r>
              <a:rPr sz="1600" b="0">
                <a:solidFill>
                  <a:srgbClr val="EAF2FF"/>
                </a:solidFill>
                <a:latin typeface="Segoe UI"/>
              </a:rPr>
              <a:t>Shield rewrites Set-Cookie → flags proven present</a:t>
            </a:r>
          </a:p>
          <a:p>
            <a:pPr>
              <a:spcAft>
                <a:spcPts val="1200"/>
              </a:spcAft>
            </a:pPr>
            <a:r>
              <a:rPr sz="1600" b="1">
                <a:solidFill>
                  <a:srgbClr val="2DD48F"/>
                </a:solidFill>
                <a:latin typeface="Segoe UI"/>
              </a:rPr>
              <a:t>»  </a:t>
            </a:r>
            <a:r>
              <a:rPr sz="1600" b="0">
                <a:solidFill>
                  <a:srgbClr val="EAF2FF"/>
                </a:solidFill>
                <a:latin typeface="Segoe UI"/>
              </a:rPr>
              <a:t>Artifacts for nginx proxy_cookie_flags, envoy, caddy</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 4 — Privilege Escalation</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privilege_escalation — horizontal (BOLA) &amp; vertical</a:t>
            </a:r>
          </a:p>
        </p:txBody>
      </p:sp>
      <p:pic>
        <p:nvPicPr>
          <p:cNvPr id="8" name="Picture 7" descr="shot_privesc.png"/>
          <p:cNvPicPr>
            <a:picLocks noChangeAspect="1"/>
          </p:cNvPicPr>
          <p:nvPr/>
        </p:nvPicPr>
        <p:blipFill>
          <a:blip r:embed="rId5"/>
          <a:stretch>
            <a:fillRect/>
          </a:stretch>
        </p:blipFill>
        <p:spPr>
          <a:xfrm>
            <a:off x="7639437" y="2331720"/>
            <a:ext cx="2871964"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Three-probe differential: control · breach · anon baseline</a:t>
            </a:r>
          </a:p>
          <a:p>
            <a:pPr>
              <a:spcAft>
                <a:spcPts val="1200"/>
              </a:spcAft>
            </a:pPr>
            <a:r>
              <a:rPr sz="1600" b="1">
                <a:solidFill>
                  <a:srgbClr val="22D3EE"/>
                </a:solidFill>
                <a:latin typeface="Segoe UI"/>
              </a:rPr>
              <a:t>»  </a:t>
            </a:r>
            <a:r>
              <a:rPr sz="1600" b="0">
                <a:solidFill>
                  <a:srgbClr val="C4D2E4"/>
                </a:solidFill>
                <a:latin typeface="Segoe UI"/>
              </a:rPr>
              <a:t>CONFIRMED only if control succeeds AND breach granted</a:t>
            </a:r>
          </a:p>
          <a:p>
            <a:pPr>
              <a:spcAft>
                <a:spcPts val="1200"/>
              </a:spcAft>
            </a:pPr>
            <a:r>
              <a:rPr sz="1600" b="1">
                <a:solidFill>
                  <a:srgbClr val="22D3EE"/>
                </a:solidFill>
                <a:latin typeface="Segoe UI"/>
              </a:rPr>
              <a:t>»  </a:t>
            </a:r>
            <a:r>
              <a:rPr sz="1600" b="0">
                <a:solidFill>
                  <a:srgbClr val="C4D2E4"/>
                </a:solidFill>
                <a:latin typeface="Segoe UI"/>
              </a:rPr>
              <a:t>AND the anonymous baseline is denied — no false positives</a:t>
            </a:r>
          </a:p>
          <a:p>
            <a:pPr>
              <a:spcAft>
                <a:spcPts val="1200"/>
              </a:spcAft>
            </a:pPr>
            <a:r>
              <a:rPr sz="1600" b="1">
                <a:solidFill>
                  <a:srgbClr val="22D3EE"/>
                </a:solidFill>
                <a:latin typeface="Segoe UI"/>
              </a:rPr>
              <a:t>»  </a:t>
            </a:r>
            <a:r>
              <a:rPr sz="1600" b="0">
                <a:solidFill>
                  <a:srgbClr val="C4D2E4"/>
                </a:solidFill>
                <a:latin typeface="Segoe UI"/>
              </a:rPr>
              <a:t>A properly owned /orders endpoint → DISPROVED, no finding</a:t>
            </a:r>
          </a:p>
          <a:p>
            <a:pPr>
              <a:spcAft>
                <a:spcPts val="1200"/>
              </a:spcAft>
            </a:pPr>
            <a:r>
              <a:rPr sz="1600" b="1">
                <a:solidFill>
                  <a:srgbClr val="2DD48F"/>
                </a:solidFill>
                <a:latin typeface="Segoe UI"/>
              </a:rPr>
              <a:t>»  </a:t>
            </a:r>
            <a:r>
              <a:rPr sz="1600" b="0">
                <a:solidFill>
                  <a:srgbClr val="EAF2FF"/>
                </a:solidFill>
                <a:latin typeface="Segoe UI"/>
              </a:rPr>
              <a:t>Shield denies the cross-boundary request → re-proven</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 5 — SQL Injection</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injection — a boolean differential, not a signature</a:t>
            </a:r>
          </a:p>
        </p:txBody>
      </p:sp>
      <p:pic>
        <p:nvPicPr>
          <p:cNvPr id="8" name="Picture 7" descr="shot_injection.png"/>
          <p:cNvPicPr>
            <a:picLocks noChangeAspect="1"/>
          </p:cNvPicPr>
          <p:nvPr/>
        </p:nvPicPr>
        <p:blipFill>
          <a:blip r:embed="rId5"/>
          <a:stretch>
            <a:fillRect/>
          </a:stretch>
        </p:blipFill>
        <p:spPr>
          <a:xfrm>
            <a:off x="7214645" y="2331720"/>
            <a:ext cx="3721549"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Benign baseline + length-matched TRUE/FALSE payload pairs</a:t>
            </a:r>
          </a:p>
          <a:p>
            <a:pPr>
              <a:spcAft>
                <a:spcPts val="1200"/>
              </a:spcAft>
            </a:pPr>
            <a:r>
              <a:rPr sz="1600" b="1">
                <a:solidFill>
                  <a:srgbClr val="22D3EE"/>
                </a:solidFill>
                <a:latin typeface="Segoe UI"/>
              </a:rPr>
              <a:t>»  </a:t>
            </a:r>
            <a:r>
              <a:rPr sz="1600" b="0">
                <a:solidFill>
                  <a:srgbClr val="C4D2E4"/>
                </a:solidFill>
                <a:latin typeface="Segoe UI"/>
              </a:rPr>
              <a:t>CONFIRMED only when TRUE ≠ FALSE, anchored to the baseline</a:t>
            </a:r>
          </a:p>
          <a:p>
            <a:pPr>
              <a:spcAft>
                <a:spcPts val="1200"/>
              </a:spcAft>
            </a:pPr>
            <a:r>
              <a:rPr sz="1600" b="1">
                <a:solidFill>
                  <a:srgbClr val="22D3EE"/>
                </a:solidFill>
                <a:latin typeface="Segoe UI"/>
              </a:rPr>
              <a:t>»  </a:t>
            </a:r>
            <a:r>
              <a:rPr sz="1600" b="0">
                <a:solidFill>
                  <a:srgbClr val="C4D2E4"/>
                </a:solidFill>
                <a:latin typeface="Segoe UI"/>
              </a:rPr>
              <a:t>Real SQL toggles the boolean — nothing pattern-matches '1=1'</a:t>
            </a:r>
          </a:p>
          <a:p>
            <a:pPr>
              <a:spcAft>
                <a:spcPts val="1200"/>
              </a:spcAft>
            </a:pPr>
            <a:r>
              <a:rPr sz="1600" b="1">
                <a:solidFill>
                  <a:srgbClr val="22D3EE"/>
                </a:solidFill>
                <a:latin typeface="Segoe UI"/>
              </a:rPr>
              <a:t>»  </a:t>
            </a:r>
            <a:r>
              <a:rPr sz="1600" b="0">
                <a:solidFill>
                  <a:srgbClr val="C4D2E4"/>
                </a:solidFill>
                <a:latin typeface="Segoe UI"/>
              </a:rPr>
              <a:t>A bound/parameterised filter collapses → DISPROVED, no finding</a:t>
            </a:r>
          </a:p>
          <a:p>
            <a:pPr>
              <a:spcAft>
                <a:spcPts val="1200"/>
              </a:spcAft>
            </a:pPr>
            <a:r>
              <a:rPr sz="1600" b="1">
                <a:solidFill>
                  <a:srgbClr val="2DD48F"/>
                </a:solidFill>
                <a:latin typeface="Segoe UI"/>
              </a:rPr>
              <a:t>»  </a:t>
            </a:r>
            <a:r>
              <a:rPr sz="1600" b="0">
                <a:solidFill>
                  <a:srgbClr val="EAF2FF"/>
                </a:solidFill>
                <a:latin typeface="Segoe UI"/>
              </a:rPr>
              <a:t>Request-guard shield blocks the payload → re-proven</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Classes 6–12 — Seven More, Same Contract</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Every class is its own differential with an explicit anchor</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SSTI — {{7*7}} evaluates to 49 vs the literal; behaviour, not a regex</a:t>
            </a:r>
          </a:p>
          <a:p>
            <a:pPr>
              <a:spcAft>
                <a:spcPts val="1500"/>
              </a:spcAft>
            </a:pPr>
            <a:r>
              <a:rPr sz="1800" b="1">
                <a:solidFill>
                  <a:srgbClr val="22D3EE"/>
                </a:solidFill>
                <a:latin typeface="Segoe UI"/>
              </a:rPr>
              <a:t>»  </a:t>
            </a:r>
            <a:r>
              <a:rPr sz="1800" b="0">
                <a:solidFill>
                  <a:srgbClr val="C4D2E4"/>
                </a:solidFill>
                <a:latin typeface="Segoe UI"/>
              </a:rPr>
              <a:t>Reflected XSS — active markup reflected VERBATIM un-escaped vs an escaped control</a:t>
            </a:r>
          </a:p>
          <a:p>
            <a:pPr>
              <a:spcAft>
                <a:spcPts val="1500"/>
              </a:spcAft>
            </a:pPr>
            <a:r>
              <a:rPr sz="1800" b="1">
                <a:solidFill>
                  <a:srgbClr val="22D3EE"/>
                </a:solidFill>
                <a:latin typeface="Segoe UI"/>
              </a:rPr>
              <a:t>»  </a:t>
            </a:r>
            <a:r>
              <a:rPr sz="1800" b="0">
                <a:solidFill>
                  <a:srgbClr val="C4D2E4"/>
                </a:solidFill>
                <a:latin typeface="Segoe UI"/>
              </a:rPr>
              <a:t>Path traversal / LFI — escape payload leaks an OS invariant (root:x:0:0:) absent from control</a:t>
            </a:r>
          </a:p>
          <a:p>
            <a:pPr>
              <a:spcAft>
                <a:spcPts val="1500"/>
              </a:spcAft>
            </a:pPr>
            <a:r>
              <a:rPr sz="1800" b="1">
                <a:solidFill>
                  <a:srgbClr val="22D3EE"/>
                </a:solidFill>
                <a:latin typeface="Segoe UI"/>
              </a:rPr>
              <a:t>»  </a:t>
            </a:r>
            <a:r>
              <a:rPr sz="1800" b="0">
                <a:solidFill>
                  <a:srgbClr val="C4D2E4"/>
                </a:solidFill>
                <a:latin typeface="Segoe UI"/>
              </a:rPr>
              <a:t>Open redirect — two-probe host differential; off-origin host OBSERVED, never followed</a:t>
            </a:r>
          </a:p>
          <a:p>
            <a:pPr>
              <a:spcAft>
                <a:spcPts val="1500"/>
              </a:spcAft>
            </a:pPr>
            <a:r>
              <a:rPr sz="1800" b="1">
                <a:solidFill>
                  <a:srgbClr val="22D3EE"/>
                </a:solidFill>
                <a:latin typeface="Segoe UI"/>
              </a:rPr>
              <a:t>»  </a:t>
            </a:r>
            <a:r>
              <a:rPr sz="1800" b="0">
                <a:solidFill>
                  <a:srgbClr val="C4D2E4"/>
                </a:solidFill>
                <a:latin typeface="Segoe UI"/>
              </a:rPr>
              <a:t>CORS — two-probe Origin differential; nonce origin reflected AND credentialed</a:t>
            </a:r>
          </a:p>
          <a:p>
            <a:pPr>
              <a:spcAft>
                <a:spcPts val="1500"/>
              </a:spcAft>
            </a:pPr>
            <a:r>
              <a:rPr sz="1800" b="1">
                <a:solidFill>
                  <a:srgbClr val="22D3EE"/>
                </a:solidFill>
                <a:latin typeface="Segoe UI"/>
              </a:rPr>
              <a:t>»  </a:t>
            </a:r>
            <a:r>
              <a:rPr sz="1800" b="0">
                <a:solidFill>
                  <a:srgbClr val="C4D2E4"/>
                </a:solidFill>
                <a:latin typeface="Segoe UI"/>
              </a:rPr>
              <a:t>SSRF — out-of-band callback to Sentinel's OWN loopback collaborator</a:t>
            </a:r>
          </a:p>
          <a:p>
            <a:pPr>
              <a:spcAft>
                <a:spcPts val="1500"/>
              </a:spcAft>
            </a:pPr>
            <a:r>
              <a:rPr sz="1800" b="1">
                <a:solidFill>
                  <a:srgbClr val="22D3EE"/>
                </a:solidFill>
                <a:latin typeface="Segoe UI"/>
              </a:rPr>
              <a:t>»  </a:t>
            </a:r>
            <a:r>
              <a:rPr sz="1800" b="0">
                <a:solidFill>
                  <a:srgbClr val="C4D2E4"/>
                </a:solidFill>
                <a:latin typeface="Segoe UI"/>
              </a:rPr>
              <a:t>Broken auth / JWT — three-probe genuine · forged · absent token differential</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Hardest Two, Done Honestly</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Zero-oracle SSRF · token forgery — and where we stop</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SSRF is zero-oracle: only Sentinel's own 127.0.0.1 collaborator is ever injected</a:t>
            </a:r>
          </a:p>
          <a:p>
            <a:pPr>
              <a:spcAft>
                <a:spcPts val="1500"/>
              </a:spcAft>
            </a:pPr>
            <a:r>
              <a:rPr sz="1800" b="1">
                <a:solidFill>
                  <a:srgbClr val="22D3EE"/>
                </a:solidFill>
                <a:latin typeface="Segoe UI"/>
              </a:rPr>
              <a:t>»  </a:t>
            </a:r>
            <a:r>
              <a:rPr sz="1800" b="0">
                <a:solidFill>
                  <a:srgbClr val="C4D2E4"/>
                </a:solidFill>
                <a:latin typeface="Segoe UI"/>
              </a:rPr>
              <a:t>— never a metadata IP, an RFC-1918 host, or any third party</a:t>
            </a:r>
          </a:p>
          <a:p>
            <a:pPr>
              <a:spcAft>
                <a:spcPts val="1500"/>
              </a:spcAft>
            </a:pPr>
            <a:r>
              <a:rPr sz="1800" b="1">
                <a:solidFill>
                  <a:srgbClr val="22D3EE"/>
                </a:solidFill>
                <a:latin typeface="Segoe UI"/>
              </a:rPr>
              <a:t>»  </a:t>
            </a:r>
            <a:r>
              <a:rPr sz="1800" b="0">
                <a:solidFill>
                  <a:srgbClr val="C4D2E4"/>
                </a:solidFill>
                <a:latin typeface="Segoe UI"/>
              </a:rPr>
              <a:t>Broken auth: a forged token as SOLE authenticator must be accepted to CONFIRM</a:t>
            </a:r>
          </a:p>
          <a:p>
            <a:pPr>
              <a:spcAft>
                <a:spcPts val="1500"/>
              </a:spcAft>
            </a:pPr>
            <a:r>
              <a:rPr sz="1800" b="1">
                <a:solidFill>
                  <a:srgbClr val="2DD48F"/>
                </a:solidFill>
                <a:latin typeface="Segoe UI"/>
              </a:rPr>
              <a:t>»  </a:t>
            </a:r>
            <a:r>
              <a:rPr sz="1800" b="0">
                <a:solidFill>
                  <a:srgbClr val="EAF2FF"/>
                </a:solidFill>
                <a:latin typeface="Segoe UI"/>
              </a:rPr>
              <a:t>Every forgery carries a benign marker — acceptance proves OUR minted token passed</a:t>
            </a:r>
          </a:p>
          <a:p>
            <a:pPr>
              <a:spcAft>
                <a:spcPts val="1500"/>
              </a:spcAft>
            </a:pPr>
            <a:r>
              <a:rPr sz="1800" b="1">
                <a:solidFill>
                  <a:srgbClr val="E84BFF"/>
                </a:solidFill>
                <a:latin typeface="Segoe UI"/>
              </a:rPr>
              <a:t>»  </a:t>
            </a:r>
            <a:r>
              <a:rPr sz="1800" b="0">
                <a:solidFill>
                  <a:srgbClr val="C4D2E4"/>
                </a:solidFill>
                <a:latin typeface="Segoe UI"/>
              </a:rPr>
              <a:t>alg-none → full PATCH+PROVE; signed-forgery classes → ADVISORY_ONLY, never a fake fix-proof</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Login Tester — Authenticated Reasoning</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Turn anonymous scanning into authenticated proof</a:t>
            </a:r>
          </a:p>
        </p:txBody>
      </p:sp>
      <p:pic>
        <p:nvPicPr>
          <p:cNvPr id="8" name="Picture 7" descr="shot_login.png"/>
          <p:cNvPicPr>
            <a:picLocks noChangeAspect="1"/>
          </p:cNvPicPr>
          <p:nvPr/>
        </p:nvPicPr>
        <p:blipFill>
          <a:blip r:embed="rId5"/>
          <a:stretch>
            <a:fillRect/>
          </a:stretch>
        </p:blipFill>
        <p:spPr>
          <a:xfrm>
            <a:off x="7834238" y="2331720"/>
            <a:ext cx="2482363" cy="3794760"/>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Drives a real browser; you log in (MFA supported)</a:t>
            </a:r>
          </a:p>
          <a:p>
            <a:pPr>
              <a:spcAft>
                <a:spcPts val="1200"/>
              </a:spcAft>
            </a:pPr>
            <a:r>
              <a:rPr sz="1600" b="1">
                <a:solidFill>
                  <a:srgbClr val="22D3EE"/>
                </a:solidFill>
                <a:latin typeface="Segoe UI"/>
              </a:rPr>
              <a:t>»  </a:t>
            </a:r>
            <a:r>
              <a:rPr sz="1600" b="0">
                <a:solidFill>
                  <a:srgbClr val="C4D2E4"/>
                </a:solidFill>
                <a:latin typeface="Segoe UI"/>
              </a:rPr>
              <a:t>Auto-detects completion, captures the live session</a:t>
            </a:r>
          </a:p>
          <a:p>
            <a:pPr>
              <a:spcAft>
                <a:spcPts val="1200"/>
              </a:spcAft>
            </a:pPr>
            <a:r>
              <a:rPr sz="1600" b="1">
                <a:solidFill>
                  <a:srgbClr val="22D3EE"/>
                </a:solidFill>
                <a:latin typeface="Segoe UI"/>
              </a:rPr>
              <a:t>»  </a:t>
            </a:r>
            <a:r>
              <a:rPr sz="1600" b="0">
                <a:solidFill>
                  <a:srgbClr val="C4D2E4"/>
                </a:solidFill>
                <a:latin typeface="Segoe UI"/>
              </a:rPr>
              <a:t>Runs authenticated authz + cookie analysis on it</a:t>
            </a:r>
          </a:p>
          <a:p>
            <a:pPr>
              <a:spcAft>
                <a:spcPts val="1200"/>
              </a:spcAft>
            </a:pPr>
            <a:r>
              <a:rPr sz="1600" b="1">
                <a:solidFill>
                  <a:srgbClr val="E84BFF"/>
                </a:solidFill>
                <a:latin typeface="Segoe UI"/>
              </a:rPr>
              <a:t>»  </a:t>
            </a:r>
            <a:r>
              <a:rPr sz="1600" b="0">
                <a:solidFill>
                  <a:srgbClr val="C4D2E4"/>
                </a:solidFill>
                <a:latin typeface="Segoe UI"/>
              </a:rPr>
              <a:t>Credentials via getpass — never stored, never logged</a:t>
            </a:r>
          </a:p>
          <a:p>
            <a:pPr>
              <a:spcAft>
                <a:spcPts val="1200"/>
              </a:spcAft>
            </a:pPr>
            <a:r>
              <a:rPr sz="1600" b="1">
                <a:solidFill>
                  <a:srgbClr val="E84BFF"/>
                </a:solidFill>
                <a:latin typeface="Segoe UI"/>
              </a:rPr>
              <a:t>»  </a:t>
            </a:r>
            <a:r>
              <a:rPr sz="1600" b="0">
                <a:solidFill>
                  <a:srgbClr val="C4D2E4"/>
                </a:solidFill>
                <a:latin typeface="Segoe UI"/>
              </a:rPr>
              <a:t>In-memory for the run only, scope-bound to the host</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Chaining — Provable, Now</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 2-link exploit: extract → consume → compose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Link 1: a CONFIRMED SQLi's TRUE-arm body leaks a real object id</a:t>
            </a:r>
          </a:p>
          <a:p>
            <a:pPr>
              <a:spcAft>
                <a:spcPts val="1500"/>
              </a:spcAft>
            </a:pPr>
            <a:r>
              <a:rPr sz="1800" b="1">
                <a:solidFill>
                  <a:srgbClr val="2DD48F"/>
                </a:solidFill>
                <a:latin typeface="Segoe UI"/>
              </a:rPr>
              <a:t>»  </a:t>
            </a:r>
            <a:r>
              <a:rPr sz="1800" b="0">
                <a:solidFill>
                  <a:srgbClr val="EAF2FF"/>
                </a:solidFill>
                <a:latin typeface="Segoe UI"/>
              </a:rPr>
              <a:t>Link 2: that exact id drives an IDOR/BOLA the principal shouldn't reach</a:t>
            </a:r>
          </a:p>
          <a:p>
            <a:pPr>
              <a:spcAft>
                <a:spcPts val="1500"/>
              </a:spcAft>
            </a:pPr>
            <a:r>
              <a:rPr sz="1800" b="1">
                <a:solidFill>
                  <a:srgbClr val="2DD48F"/>
                </a:solidFill>
                <a:latin typeface="Segoe UI"/>
              </a:rPr>
              <a:t>»  </a:t>
            </a:r>
            <a:r>
              <a:rPr sz="1800" b="0">
                <a:solidFill>
                  <a:srgbClr val="EAF2FF"/>
                </a:solidFill>
                <a:latin typeface="Segoe UI"/>
              </a:rPr>
              <a:t>The composer owns ZERO verdict logic — reuses each class's pure judge unchanged</a:t>
            </a:r>
          </a:p>
          <a:p>
            <a:pPr>
              <a:spcAft>
                <a:spcPts val="1500"/>
              </a:spcAft>
            </a:pPr>
            <a:r>
              <a:rPr sz="1800" b="1">
                <a:solidFill>
                  <a:srgbClr val="E84BFF"/>
                </a:solidFill>
                <a:latin typeface="Segoe UI"/>
              </a:rPr>
              <a:t>»  </a:t>
            </a:r>
            <a:r>
              <a:rPr sz="1800" b="0">
                <a:solidFill>
                  <a:srgbClr val="C4D2E4"/>
                </a:solidFill>
                <a:latin typeface="Segoe UI"/>
              </a:rPr>
              <a:t>Decoy wall: a same-shaped fake id must FAIL, or the edge is suppressed</a:t>
            </a:r>
          </a:p>
          <a:p>
            <a:pPr>
              <a:spcAft>
                <a:spcPts val="1500"/>
              </a:spcAft>
            </a:pPr>
            <a:r>
              <a:rPr sz="1800" b="1">
                <a:solidFill>
                  <a:srgbClr val="22D3EE"/>
                </a:solidFill>
                <a:latin typeface="Segoe UI"/>
              </a:rPr>
              <a:t>»  </a:t>
            </a:r>
            <a:r>
              <a:rPr sz="1800" b="0">
                <a:solidFill>
                  <a:srgbClr val="C4D2E4"/>
                </a:solidFill>
                <a:latin typeface="Segoe UI"/>
              </a:rPr>
              <a:t>Chain confirmed → severity escalates one rung (HIGH ∧ HIGH → CRITICAL)</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Target-Agnostic — Two Live Stacks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Zero target-specific code</a:t>
            </a:r>
          </a:p>
        </p:txBody>
      </p:sp>
      <p:pic>
        <p:nvPicPr>
          <p:cNvPr id="8" name="Picture 7" descr="shot_outcome.png"/>
          <p:cNvPicPr>
            <a:picLocks noChangeAspect="1"/>
          </p:cNvPicPr>
          <p:nvPr/>
        </p:nvPicPr>
        <p:blipFill>
          <a:blip r:embed="rId5"/>
          <a:stretch>
            <a:fillRect/>
          </a:stretch>
        </p:blipFill>
        <p:spPr>
          <a:xfrm>
            <a:off x="6400800" y="3317098"/>
            <a:ext cx="5349240" cy="1824003"/>
          </a:xfrm>
          <a:prstGeom prst="rect">
            <a:avLst/>
          </a:prstGeom>
        </p:spPr>
      </p:pic>
      <p:sp>
        <p:nvSpPr>
          <p:cNvPr id="9" name="TextBox 8"/>
          <p:cNvSpPr txBox="1"/>
          <p:nvPr/>
        </p:nvSpPr>
        <p:spPr>
          <a:xfrm>
            <a:off x="713232" y="2487168"/>
            <a:ext cx="5440680" cy="3840480"/>
          </a:xfrm>
          <a:prstGeom prst="rect">
            <a:avLst/>
          </a:prstGeom>
          <a:noFill/>
        </p:spPr>
        <p:txBody>
          <a:bodyPr wrap="square" anchor="t" lIns="0" rIns="0" tIns="0" bIns="0">
            <a:spAutoFit/>
          </a:bodyPr>
          <a:lstStyle/>
          <a:p>
            <a:pPr>
              <a:spcAft>
                <a:spcPts val="1200"/>
              </a:spcAft>
            </a:pPr>
            <a:r>
              <a:rPr sz="1600" b="1">
                <a:solidFill>
                  <a:srgbClr val="22D3EE"/>
                </a:solidFill>
                <a:latin typeface="Segoe UI"/>
              </a:rPr>
              <a:t>»  </a:t>
            </a:r>
            <a:r>
              <a:rPr sz="1600" b="0">
                <a:solidFill>
                  <a:srgbClr val="C4D2E4"/>
                </a:solidFill>
                <a:latin typeface="Segoe UI"/>
              </a:rPr>
              <a:t>Proven on OWASP Juice Shop and VAmPI</a:t>
            </a:r>
          </a:p>
          <a:p>
            <a:pPr>
              <a:spcAft>
                <a:spcPts val="1200"/>
              </a:spcAft>
            </a:pPr>
            <a:r>
              <a:rPr sz="1600" b="1">
                <a:solidFill>
                  <a:srgbClr val="22D3EE"/>
                </a:solidFill>
                <a:latin typeface="Segoe UI"/>
              </a:rPr>
              <a:t>»  </a:t>
            </a:r>
            <a:r>
              <a:rPr sz="1600" b="0">
                <a:solidFill>
                  <a:srgbClr val="C4D2E4"/>
                </a:solidFill>
                <a:latin typeface="Segoe UI"/>
              </a:rPr>
              <a:t>Same engine, same judges, different oracles</a:t>
            </a:r>
          </a:p>
          <a:p>
            <a:pPr>
              <a:spcAft>
                <a:spcPts val="1200"/>
              </a:spcAft>
            </a:pPr>
            <a:r>
              <a:rPr sz="1600" b="1">
                <a:solidFill>
                  <a:srgbClr val="22D3EE"/>
                </a:solidFill>
                <a:latin typeface="Segoe UI"/>
              </a:rPr>
              <a:t>»  </a:t>
            </a:r>
            <a:r>
              <a:rPr sz="1600" b="0">
                <a:solidFill>
                  <a:srgbClr val="C4D2E4"/>
                </a:solidFill>
                <a:latin typeface="Segoe UI"/>
              </a:rPr>
              <a:t>Oracles are operator data, not engine logic</a:t>
            </a:r>
          </a:p>
          <a:p>
            <a:pPr>
              <a:spcAft>
                <a:spcPts val="1200"/>
              </a:spcAft>
            </a:pPr>
            <a:r>
              <a:rPr sz="1600" b="1">
                <a:solidFill>
                  <a:srgbClr val="22D3EE"/>
                </a:solidFill>
                <a:latin typeface="Segoe UI"/>
              </a:rPr>
              <a:t>»  </a:t>
            </a:r>
            <a:r>
              <a:rPr sz="1600" b="0">
                <a:solidFill>
                  <a:srgbClr val="C4D2E4"/>
                </a:solidFill>
                <a:latin typeface="Segoe UI"/>
              </a:rPr>
              <a:t>New target = new policy file, no code change</a:t>
            </a:r>
          </a:p>
          <a:p>
            <a:pPr>
              <a:spcAft>
                <a:spcPts val="1200"/>
              </a:spcAft>
            </a:pPr>
            <a:r>
              <a:rPr sz="1600" b="1">
                <a:solidFill>
                  <a:srgbClr val="22D3EE"/>
                </a:solidFill>
                <a:latin typeface="Segoe UI"/>
              </a:rPr>
              <a:t>»  </a:t>
            </a:r>
            <a:r>
              <a:rPr sz="1600" b="0">
                <a:solidFill>
                  <a:srgbClr val="C4D2E4"/>
                </a:solidFill>
                <a:latin typeface="Segoe UI"/>
              </a:rPr>
              <a:t>The research frontier is reported, never faked</a:t>
            </a:r>
          </a:p>
        </p:txBody>
      </p:sp>
      <p:sp>
        <p:nvSpPr>
          <p:cNvPr id="10" name="TextBox 9"/>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1" name="TextBox 10"/>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14600"/>
            <a:ext cx="10362895" cy="1371600"/>
          </a:xfrm>
          <a:prstGeom prst="rect">
            <a:avLst/>
          </a:prstGeom>
          <a:noFill/>
        </p:spPr>
        <p:txBody>
          <a:bodyPr wrap="square" anchor="ctr" lIns="0" rIns="0" tIns="0" bIns="0">
            <a:spAutoFit/>
          </a:bodyPr>
          <a:lstStyle/>
          <a:p>
            <a:pPr algn="ctr"/>
            <a:r>
              <a:rPr sz="4000" b="1">
                <a:solidFill>
                  <a:srgbClr val="EAF2FF"/>
                </a:solidFill>
                <a:latin typeface="Consolas"/>
              </a:rPr>
              <a:t>From 12 Classes to an Autonomous Pentester</a:t>
            </a:r>
          </a:p>
        </p:txBody>
      </p:sp>
      <p:pic>
        <p:nvPicPr>
          <p:cNvPr id="4" name="Picture 3" descr="deck_rule.png"/>
          <p:cNvPicPr>
            <a:picLocks noChangeAspect="1"/>
          </p:cNvPicPr>
          <p:nvPr/>
        </p:nvPicPr>
        <p:blipFill>
          <a:blip r:embed="rId3"/>
          <a:stretch>
            <a:fillRect/>
          </a:stretch>
        </p:blipFill>
        <p:spPr>
          <a:xfrm>
            <a:off x="4541367" y="3977639"/>
            <a:ext cx="3108960" cy="56692"/>
          </a:xfrm>
          <a:prstGeom prst="rect">
            <a:avLst/>
          </a:prstGeom>
        </p:spPr>
      </p:pic>
      <p:sp>
        <p:nvSpPr>
          <p:cNvPr id="5" name="TextBox 4"/>
          <p:cNvSpPr txBox="1"/>
          <p:nvPr/>
        </p:nvSpPr>
        <p:spPr>
          <a:xfrm>
            <a:off x="914400" y="4160520"/>
            <a:ext cx="10362895" cy="731520"/>
          </a:xfrm>
          <a:prstGeom prst="rect">
            <a:avLst/>
          </a:prstGeom>
          <a:noFill/>
        </p:spPr>
        <p:txBody>
          <a:bodyPr wrap="square" anchor="t" lIns="0" rIns="0" tIns="0" bIns="0">
            <a:spAutoFit/>
          </a:bodyPr>
          <a:lstStyle/>
          <a:p>
            <a:pPr algn="ctr"/>
            <a:r>
              <a:rPr sz="1800" b="0">
                <a:solidFill>
                  <a:srgbClr val="22D3EE"/>
                </a:solidFill>
                <a:latin typeface="Consolas"/>
              </a:rPr>
              <a:t>Point it at a URL — it runs the whole loop itself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Autonomous Command</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autonomous &lt;url&gt; — the fusion brain</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One command: live recon → hypotheses → proof → gated patch</a:t>
            </a:r>
          </a:p>
          <a:p>
            <a:pPr>
              <a:spcAft>
                <a:spcPts val="1500"/>
              </a:spcAft>
            </a:pPr>
            <a:r>
              <a:rPr sz="1800" b="1">
                <a:solidFill>
                  <a:srgbClr val="22D3EE"/>
                </a:solidFill>
                <a:latin typeface="Segoe UI"/>
              </a:rPr>
              <a:t>»  </a:t>
            </a:r>
            <a:r>
              <a:rPr sz="1800" b="0">
                <a:solidFill>
                  <a:srgbClr val="C4D2E4"/>
                </a:solidFill>
                <a:latin typeface="Segoe UI"/>
              </a:rPr>
              <a:t>Adapts to the target's shape — no routes or payloads hard-coded</a:t>
            </a:r>
          </a:p>
          <a:p>
            <a:pPr>
              <a:spcAft>
                <a:spcPts val="1500"/>
              </a:spcAft>
            </a:pPr>
            <a:r>
              <a:rPr sz="1800" b="1">
                <a:solidFill>
                  <a:srgbClr val="22D3EE"/>
                </a:solidFill>
                <a:latin typeface="Segoe UI"/>
              </a:rPr>
              <a:t>»  </a:t>
            </a:r>
            <a:r>
              <a:rPr sz="1800" b="0">
                <a:solidFill>
                  <a:srgbClr val="C4D2E4"/>
                </a:solidFill>
                <a:latin typeface="Segoe UI"/>
              </a:rPr>
              <a:t>Concurrent pure-judge adjudication; a tool hit is only a LEAD</a:t>
            </a:r>
          </a:p>
          <a:p>
            <a:pPr>
              <a:spcAft>
                <a:spcPts val="1500"/>
              </a:spcAft>
            </a:pPr>
            <a:r>
              <a:rPr sz="1800" b="1">
                <a:solidFill>
                  <a:srgbClr val="22D3EE"/>
                </a:solidFill>
                <a:latin typeface="Segoe UI"/>
              </a:rPr>
              <a:t>»  </a:t>
            </a:r>
            <a:r>
              <a:rPr sz="1800" b="0">
                <a:solidFill>
                  <a:srgbClr val="C4D2E4"/>
                </a:solidFill>
                <a:latin typeface="Segoe UI"/>
              </a:rPr>
              <a:t>Same contract: the loop proposes, the deterministic judge disposes</a:t>
            </a:r>
          </a:p>
          <a:p>
            <a:pPr>
              <a:spcAft>
                <a:spcPts val="1500"/>
              </a:spcAft>
            </a:pPr>
            <a:r>
              <a:rPr sz="1800" b="1">
                <a:solidFill>
                  <a:srgbClr val="22D3EE"/>
                </a:solidFill>
                <a:latin typeface="Segoe UI"/>
              </a:rPr>
              <a:t>»  </a:t>
            </a:r>
            <a:r>
              <a:rPr sz="1800" b="0">
                <a:solidFill>
                  <a:srgbClr val="C4D2E4"/>
                </a:solidFill>
                <a:latin typeface="Segoe UI"/>
              </a:rPr>
              <a:t>Session-aware stage folds a captured login into the proof-chain</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Tools &amp; Models Propose; the Judge Disposes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 curated real-tool layer + bring-your-own model</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Curated OSS recon/discovery: httpx, katana, ffuf, arjun, gau…</a:t>
            </a:r>
          </a:p>
          <a:p>
            <a:pPr>
              <a:spcAft>
                <a:spcPts val="1500"/>
              </a:spcAft>
            </a:pPr>
            <a:r>
              <a:rPr sz="1800" b="1">
                <a:solidFill>
                  <a:srgbClr val="22D3EE"/>
                </a:solidFill>
                <a:latin typeface="Segoe UI"/>
              </a:rPr>
              <a:t>»  </a:t>
            </a:r>
            <a:r>
              <a:rPr sz="1800" b="0">
                <a:solidFill>
                  <a:srgbClr val="C4D2E4"/>
                </a:solidFill>
                <a:latin typeface="Segoe UI"/>
              </a:rPr>
              <a:t>sqlmap / dalfox / nuclei DEMOTED to nominators — never a verdict</a:t>
            </a:r>
          </a:p>
          <a:p>
            <a:pPr>
              <a:spcAft>
                <a:spcPts val="1500"/>
              </a:spcAft>
            </a:pPr>
            <a:r>
              <a:rPr sz="1800" b="1">
                <a:solidFill>
                  <a:srgbClr val="E84BFF"/>
                </a:solidFill>
                <a:latin typeface="Segoe UI"/>
              </a:rPr>
              <a:t>»  </a:t>
            </a:r>
            <a:r>
              <a:rPr sz="1800" b="0">
                <a:solidFill>
                  <a:srgbClr val="C4D2E4"/>
                </a:solidFill>
                <a:latin typeface="Segoe UI"/>
              </a:rPr>
              <a:t>Approval-gated execution; no silent installs, scope-guarded</a:t>
            </a:r>
          </a:p>
          <a:p>
            <a:pPr>
              <a:spcAft>
                <a:spcPts val="1500"/>
              </a:spcAft>
            </a:pPr>
            <a:r>
              <a:rPr sz="1800" b="1">
                <a:solidFill>
                  <a:srgbClr val="2DD48F"/>
                </a:solidFill>
                <a:latin typeface="Segoe UI"/>
              </a:rPr>
              <a:t>»  </a:t>
            </a:r>
            <a:r>
              <a:rPr sz="1800" b="0">
                <a:solidFill>
                  <a:srgbClr val="EAF2FF"/>
                </a:solidFill>
                <a:latin typeface="Segoe UI"/>
              </a:rPr>
              <a:t>Pluggable LLM: local qwen by default, Opus for showcase runs</a:t>
            </a:r>
          </a:p>
          <a:p>
            <a:pPr>
              <a:spcAft>
                <a:spcPts val="1500"/>
              </a:spcAft>
            </a:pPr>
            <a:r>
              <a:rPr sz="1800" b="1">
                <a:solidFill>
                  <a:srgbClr val="2DD48F"/>
                </a:solidFill>
                <a:latin typeface="Segoe UI"/>
              </a:rPr>
              <a:t>»  </a:t>
            </a:r>
            <a:r>
              <a:rPr sz="1800" b="0">
                <a:solidFill>
                  <a:srgbClr val="EAF2FF"/>
                </a:solidFill>
                <a:latin typeface="Segoe UI"/>
              </a:rPr>
              <a:t>Keys via env / getpass — in-memory, never logged, never committed</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Proof-Carrying Report</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The deliverable: reproduce, prove, remediate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Per finding: the literal probes the judge issued (steps-to-reproduce)</a:t>
            </a:r>
          </a:p>
          <a:p>
            <a:pPr>
              <a:spcAft>
                <a:spcPts val="1500"/>
              </a:spcAft>
            </a:pPr>
            <a:r>
              <a:rPr sz="1800" b="1">
                <a:solidFill>
                  <a:srgbClr val="2DD48F"/>
                </a:solidFill>
                <a:latin typeface="Segoe UI"/>
              </a:rPr>
              <a:t>»  </a:t>
            </a:r>
            <a:r>
              <a:rPr sz="1800" b="0">
                <a:solidFill>
                  <a:srgbClr val="EAF2FF"/>
                </a:solidFill>
                <a:latin typeface="Segoe UI"/>
              </a:rPr>
              <a:t>Proof = the differential + anchor + the judge's own verdict + evidence</a:t>
            </a:r>
          </a:p>
          <a:p>
            <a:pPr>
              <a:spcAft>
                <a:spcPts val="1500"/>
              </a:spcAft>
            </a:pPr>
            <a:r>
              <a:rPr sz="1800" b="1">
                <a:solidFill>
                  <a:srgbClr val="2DD48F"/>
                </a:solidFill>
                <a:latin typeface="Segoe UI"/>
              </a:rPr>
              <a:t>»  </a:t>
            </a:r>
            <a:r>
              <a:rPr sz="1800" b="0">
                <a:solidFill>
                  <a:srgbClr val="EAF2FF"/>
                </a:solidFill>
                <a:latin typeface="Segoe UI"/>
              </a:rPr>
              <a:t>Remediation = the patch and its live VALIDATED→DISPROVED flip</a:t>
            </a:r>
          </a:p>
          <a:p>
            <a:pPr>
              <a:spcAft>
                <a:spcPts val="1500"/>
              </a:spcAft>
            </a:pPr>
            <a:r>
              <a:rPr sz="1800" b="1">
                <a:solidFill>
                  <a:srgbClr val="22D3EE"/>
                </a:solidFill>
                <a:latin typeface="Segoe UI"/>
              </a:rPr>
              <a:t>»  </a:t>
            </a:r>
            <a:r>
              <a:rPr sz="1800" b="0">
                <a:solidFill>
                  <a:srgbClr val="C4D2E4"/>
                </a:solidFill>
                <a:latin typeface="Segoe UI"/>
              </a:rPr>
              <a:t>Markdown for humans + JSON for machines; leads shown, unpromoted</a:t>
            </a:r>
          </a:p>
          <a:p>
            <a:pPr>
              <a:spcAft>
                <a:spcPts val="1500"/>
              </a:spcAft>
            </a:pPr>
            <a:r>
              <a:rPr sz="1800" b="1">
                <a:solidFill>
                  <a:srgbClr val="E84BFF"/>
                </a:solidFill>
                <a:latin typeface="Segoe UI"/>
              </a:rPr>
              <a:t>»  </a:t>
            </a:r>
            <a:r>
              <a:rPr sz="1800" b="0">
                <a:solidFill>
                  <a:srgbClr val="C4D2E4"/>
                </a:solidFill>
                <a:latin typeface="Segoe UI"/>
              </a:rPr>
              <a:t>The LLM may narrate — but every claim is graph-backed or omitted</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Breadth, Earned Per Proof</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A 200-item wishlist, folded into four honest tiers</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Tier A — SHIPPED: 12 classes + chaining cover the real web families</a:t>
            </a:r>
          </a:p>
          <a:p>
            <a:pPr>
              <a:spcAft>
                <a:spcPts val="1500"/>
              </a:spcAft>
            </a:pPr>
            <a:r>
              <a:rPr sz="1800" b="1">
                <a:solidFill>
                  <a:srgbClr val="22D3EE"/>
                </a:solidFill>
                <a:latin typeface="Segoe UI"/>
              </a:rPr>
              <a:t>»  </a:t>
            </a:r>
            <a:r>
              <a:rPr sz="1800" b="0">
                <a:solidFill>
                  <a:srgbClr val="C4D2E4"/>
                </a:solidFill>
                <a:latin typeface="Segoe UI"/>
              </a:rPr>
              <a:t>Tier B — NEXT: cmd-injection, XXE, NoSQLi, CSRF… each needs a judge</a:t>
            </a:r>
          </a:p>
          <a:p>
            <a:pPr>
              <a:spcAft>
                <a:spcPts val="1500"/>
              </a:spcAft>
            </a:pPr>
            <a:r>
              <a:rPr sz="1800" b="1">
                <a:solidFill>
                  <a:srgbClr val="F5B301"/>
                </a:solidFill>
                <a:latin typeface="Segoe UI"/>
              </a:rPr>
              <a:t>»  </a:t>
            </a:r>
            <a:r>
              <a:rPr sz="1800" b="0">
                <a:solidFill>
                  <a:srgbClr val="EAF2FF"/>
                </a:solidFill>
                <a:latin typeface="Segoe UI"/>
              </a:rPr>
              <a:t>Tier C — FRONTIER: labeled leads only (logic, race, ATO, OAuth)</a:t>
            </a:r>
          </a:p>
          <a:p>
            <a:pPr>
              <a:spcAft>
                <a:spcPts val="1500"/>
              </a:spcAft>
            </a:pPr>
            <a:r>
              <a:rPr sz="1800" b="1">
                <a:solidFill>
                  <a:srgbClr val="E84BFF"/>
                </a:solidFill>
                <a:latin typeface="Segoe UI"/>
              </a:rPr>
              <a:t>»  </a:t>
            </a:r>
            <a:r>
              <a:rPr sz="1800" b="0">
                <a:solidFill>
                  <a:srgbClr val="C4D2E4"/>
                </a:solidFill>
                <a:latin typeface="Segoe UI"/>
              </a:rPr>
              <a:t>Tier D — OUT: cloud config-audit &amp; DoS — a different tool, not faked</a:t>
            </a:r>
          </a:p>
          <a:p>
            <a:pPr>
              <a:spcAft>
                <a:spcPts val="1500"/>
              </a:spcAft>
            </a:pPr>
            <a:r>
              <a:rPr sz="1800" b="1">
                <a:solidFill>
                  <a:srgbClr val="22D3EE"/>
                </a:solidFill>
                <a:latin typeface="Segoe UI"/>
              </a:rPr>
              <a:t>»  </a:t>
            </a:r>
            <a:r>
              <a:rPr sz="1800" b="0">
                <a:solidFill>
                  <a:srgbClr val="C4D2E4"/>
                </a:solidFill>
                <a:latin typeface="Segoe UI"/>
              </a:rPr>
              <a:t>Rule: a family graduates only with a pure differential + anchor</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Test Results &amp; Validation</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Green, deterministic, and honest about the one skip</a:t>
            </a:r>
          </a:p>
        </p:txBody>
      </p:sp>
      <p:sp>
        <p:nvSpPr>
          <p:cNvPr id="8" name="Rounded Rectangle 7"/>
          <p:cNvSpPr/>
          <p:nvPr/>
        </p:nvSpPr>
        <p:spPr>
          <a:xfrm>
            <a:off x="603504" y="2395728"/>
            <a:ext cx="250317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454</a:t>
            </a:r>
          </a:p>
          <a:p>
            <a:pPr algn="ctr"/>
            <a:r>
              <a:rPr sz="1100" b="0">
                <a:solidFill>
                  <a:srgbClr val="6B7A90"/>
                </a:solidFill>
                <a:latin typeface="Consolas"/>
              </a:rPr>
              <a:t>TESTS</a:t>
            </a:r>
          </a:p>
        </p:txBody>
      </p:sp>
      <p:sp>
        <p:nvSpPr>
          <p:cNvPr id="9" name="Rounded Rectangle 8"/>
          <p:cNvSpPr/>
          <p:nvPr/>
        </p:nvSpPr>
        <p:spPr>
          <a:xfrm>
            <a:off x="3426714" y="2395728"/>
            <a:ext cx="250317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453</a:t>
            </a:r>
          </a:p>
          <a:p>
            <a:pPr algn="ctr"/>
            <a:r>
              <a:rPr sz="1100" b="0">
                <a:solidFill>
                  <a:srgbClr val="6B7A90"/>
                </a:solidFill>
                <a:latin typeface="Consolas"/>
              </a:rPr>
              <a:t>PASSING</a:t>
            </a:r>
          </a:p>
        </p:txBody>
      </p:sp>
      <p:sp>
        <p:nvSpPr>
          <p:cNvPr id="10" name="Rounded Rectangle 9"/>
          <p:cNvSpPr/>
          <p:nvPr/>
        </p:nvSpPr>
        <p:spPr>
          <a:xfrm>
            <a:off x="6249924" y="2395728"/>
            <a:ext cx="250317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12</a:t>
            </a:r>
          </a:p>
          <a:p>
            <a:pPr algn="ctr"/>
            <a:r>
              <a:rPr sz="1100" b="0">
                <a:solidFill>
                  <a:srgbClr val="6B7A90"/>
                </a:solidFill>
                <a:latin typeface="Consolas"/>
              </a:rPr>
              <a:t>VULN CLASSES</a:t>
            </a:r>
          </a:p>
        </p:txBody>
      </p:sp>
      <p:sp>
        <p:nvSpPr>
          <p:cNvPr id="11" name="Rounded Rectangle 10"/>
          <p:cNvSpPr/>
          <p:nvPr/>
        </p:nvSpPr>
        <p:spPr>
          <a:xfrm>
            <a:off x="9073134" y="2395728"/>
            <a:ext cx="250317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2</a:t>
            </a:r>
          </a:p>
          <a:p>
            <a:pPr algn="ctr"/>
            <a:r>
              <a:rPr sz="1100" b="0">
                <a:solidFill>
                  <a:srgbClr val="6B7A90"/>
                </a:solidFill>
                <a:latin typeface="Consolas"/>
              </a:rPr>
              <a:t>LIVE STACKS</a:t>
            </a:r>
          </a:p>
        </p:txBody>
      </p:sp>
      <p:sp>
        <p:nvSpPr>
          <p:cNvPr id="12" name="TextBox 11"/>
          <p:cNvSpPr txBox="1"/>
          <p:nvPr/>
        </p:nvSpPr>
        <p:spPr>
          <a:xfrm>
            <a:off x="713232" y="3840480"/>
            <a:ext cx="10789920" cy="3840480"/>
          </a:xfrm>
          <a:prstGeom prst="rect">
            <a:avLst/>
          </a:prstGeom>
          <a:noFill/>
        </p:spPr>
        <p:txBody>
          <a:bodyPr wrap="square" anchor="t" lIns="0" rIns="0" tIns="0" bIns="0">
            <a:spAutoFit/>
          </a:bodyPr>
          <a:lstStyle/>
          <a:p>
            <a:pPr>
              <a:spcAft>
                <a:spcPts val="1000"/>
              </a:spcAft>
            </a:pPr>
            <a:r>
              <a:rPr sz="1700" b="1">
                <a:solidFill>
                  <a:srgbClr val="2DD48F"/>
                </a:solidFill>
                <a:latin typeface="Segoe UI"/>
              </a:rPr>
              <a:t>»  </a:t>
            </a:r>
            <a:r>
              <a:rPr sz="1700" b="0">
                <a:solidFill>
                  <a:srgbClr val="EAF2FF"/>
                </a:solidFill>
                <a:latin typeface="Segoe UI"/>
              </a:rPr>
              <a:t>453 passing, 1 skipped (the opt-in live-browser path)</a:t>
            </a:r>
          </a:p>
          <a:p>
            <a:pPr>
              <a:spcAft>
                <a:spcPts val="1000"/>
              </a:spcAft>
            </a:pPr>
            <a:r>
              <a:rPr sz="1700" b="1">
                <a:solidFill>
                  <a:srgbClr val="2DD48F"/>
                </a:solidFill>
                <a:latin typeface="Segoe UI"/>
              </a:rPr>
              <a:t>»  </a:t>
            </a:r>
            <a:r>
              <a:rPr sz="1700" b="0">
                <a:solidFill>
                  <a:srgbClr val="EAF2FF"/>
                </a:solidFill>
                <a:latin typeface="Segoe UI"/>
              </a:rPr>
              <a:t>Full offline suite is network-free and runs in seconds</a:t>
            </a:r>
          </a:p>
          <a:p>
            <a:pPr>
              <a:spcAft>
                <a:spcPts val="1000"/>
              </a:spcAft>
            </a:pPr>
            <a:r>
              <a:rPr sz="1700" b="1">
                <a:solidFill>
                  <a:srgbClr val="2DD48F"/>
                </a:solidFill>
                <a:latin typeface="Segoe UI"/>
              </a:rPr>
              <a:t>»  </a:t>
            </a:r>
            <a:r>
              <a:rPr sz="1700" b="0">
                <a:solidFill>
                  <a:srgbClr val="EAF2FF"/>
                </a:solidFill>
                <a:latin typeface="Segoe UI"/>
              </a:rPr>
              <a:t>Each class: parse → CONFIRM → PATCH → PROVE, plus isolation</a:t>
            </a:r>
          </a:p>
          <a:p>
            <a:pPr>
              <a:spcAft>
                <a:spcPts val="1000"/>
              </a:spcAft>
            </a:pPr>
            <a:r>
              <a:rPr sz="1700" b="1">
                <a:solidFill>
                  <a:srgbClr val="2DD48F"/>
                </a:solidFill>
                <a:latin typeface="Segoe UI"/>
              </a:rPr>
              <a:t>»  </a:t>
            </a:r>
            <a:r>
              <a:rPr sz="1700" b="0">
                <a:solidFill>
                  <a:srgbClr val="EAF2FF"/>
                </a:solidFill>
                <a:latin typeface="Segoe UI"/>
              </a:rPr>
              <a:t>Live E2E validated on Juice Shop and VAmPI over real sockets</a:t>
            </a:r>
          </a:p>
          <a:p>
            <a:pPr>
              <a:spcAft>
                <a:spcPts val="1000"/>
              </a:spcAft>
            </a:pPr>
            <a:r>
              <a:rPr sz="1700" b="1">
                <a:solidFill>
                  <a:srgbClr val="22D3EE"/>
                </a:solidFill>
                <a:latin typeface="Segoe UI"/>
              </a:rPr>
              <a:t>»  </a:t>
            </a:r>
            <a:r>
              <a:rPr sz="1700" b="0">
                <a:solidFill>
                  <a:srgbClr val="C4D2E4"/>
                </a:solidFill>
                <a:latin typeface="Segoe UI"/>
              </a:rPr>
              <a:t>Compliant-control tests assert the honest 'no finding' path</a:t>
            </a:r>
          </a:p>
        </p:txBody>
      </p:sp>
      <p:sp>
        <p:nvSpPr>
          <p:cNvPr id="13" name="TextBox 12"/>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4" name="TextBox 13"/>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Lightweight &amp; Local</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Runs on a laptop; nothing leaves the box</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Local model via Ollama (qwen3:4b) — no cloud dependency</a:t>
            </a:r>
          </a:p>
          <a:p>
            <a:pPr>
              <a:spcAft>
                <a:spcPts val="1500"/>
              </a:spcAft>
            </a:pPr>
            <a:r>
              <a:rPr sz="1800" b="1">
                <a:solidFill>
                  <a:srgbClr val="22D3EE"/>
                </a:solidFill>
                <a:latin typeface="Segoe UI"/>
              </a:rPr>
              <a:t>»  </a:t>
            </a:r>
            <a:r>
              <a:rPr sz="1800" b="0">
                <a:solidFill>
                  <a:srgbClr val="C4D2E4"/>
                </a:solidFill>
                <a:latin typeface="Segoe UI"/>
              </a:rPr>
              <a:t>Core install is lightweight; Playwright is an opt-in extra</a:t>
            </a:r>
          </a:p>
          <a:p>
            <a:pPr>
              <a:spcAft>
                <a:spcPts val="1500"/>
              </a:spcAft>
            </a:pPr>
            <a:r>
              <a:rPr sz="1800" b="1">
                <a:solidFill>
                  <a:srgbClr val="22D3EE"/>
                </a:solidFill>
                <a:latin typeface="Segoe UI"/>
              </a:rPr>
              <a:t>»  </a:t>
            </a:r>
            <a:r>
              <a:rPr sz="1800" b="0">
                <a:solidFill>
                  <a:srgbClr val="C4D2E4"/>
                </a:solidFill>
                <a:latin typeface="Segoe UI"/>
              </a:rPr>
              <a:t>No customer data or target traffic egresses anywhere</a:t>
            </a:r>
          </a:p>
          <a:p>
            <a:pPr>
              <a:spcAft>
                <a:spcPts val="1500"/>
              </a:spcAft>
            </a:pPr>
            <a:r>
              <a:rPr sz="1800" b="1">
                <a:solidFill>
                  <a:srgbClr val="22D3EE"/>
                </a:solidFill>
                <a:latin typeface="Segoe UI"/>
              </a:rPr>
              <a:t>»  </a:t>
            </a:r>
            <a:r>
              <a:rPr sz="1800" b="0">
                <a:solidFill>
                  <a:srgbClr val="C4D2E4"/>
                </a:solidFill>
                <a:latin typeface="Segoe UI"/>
              </a:rPr>
              <a:t>Deterministic core runs even with the model offline</a:t>
            </a:r>
          </a:p>
          <a:p>
            <a:pPr>
              <a:spcAft>
                <a:spcPts val="1500"/>
              </a:spcAft>
            </a:pPr>
            <a:r>
              <a:rPr sz="1800" b="1">
                <a:solidFill>
                  <a:srgbClr val="22D3EE"/>
                </a:solidFill>
                <a:latin typeface="Segoe UI"/>
              </a:rPr>
              <a:t>»  </a:t>
            </a:r>
            <a:r>
              <a:rPr sz="1800" b="0">
                <a:solidFill>
                  <a:srgbClr val="C4D2E4"/>
                </a:solidFill>
                <a:latin typeface="Segoe UI"/>
              </a:rPr>
              <a:t>Deploys air-gapped — ideal for regulated environments</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Safety &amp; Bounded Autonomy</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Safe by construction</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Pre-connection scope guard — out-of-scope probes refused</a:t>
            </a:r>
          </a:p>
          <a:p>
            <a:pPr>
              <a:spcAft>
                <a:spcPts val="1500"/>
              </a:spcAft>
            </a:pPr>
            <a:r>
              <a:rPr sz="1800" b="1">
                <a:solidFill>
                  <a:srgbClr val="2DD48F"/>
                </a:solidFill>
                <a:latin typeface="Segoe UI"/>
              </a:rPr>
              <a:t>»  </a:t>
            </a:r>
            <a:r>
              <a:rPr sz="1800" b="0">
                <a:solidFill>
                  <a:srgbClr val="EAF2FF"/>
                </a:solidFill>
                <a:latin typeface="Segoe UI"/>
              </a:rPr>
              <a:t>Probes are local, bounded, and non-destructive</a:t>
            </a:r>
          </a:p>
          <a:p>
            <a:pPr>
              <a:spcAft>
                <a:spcPts val="1500"/>
              </a:spcAft>
            </a:pPr>
            <a:r>
              <a:rPr sz="1800" b="1">
                <a:solidFill>
                  <a:srgbClr val="2DD48F"/>
                </a:solidFill>
                <a:latin typeface="Segoe UI"/>
              </a:rPr>
              <a:t>»  </a:t>
            </a:r>
            <a:r>
              <a:rPr sz="1800" b="0">
                <a:solidFill>
                  <a:srgbClr val="EAF2FF"/>
                </a:solidFill>
                <a:latin typeface="Segoe UI"/>
              </a:rPr>
              <a:t>The enforcer shield is ephemeral and loopback-only (SSRF-safe)</a:t>
            </a:r>
          </a:p>
          <a:p>
            <a:pPr>
              <a:spcAft>
                <a:spcPts val="1500"/>
              </a:spcAft>
            </a:pPr>
            <a:r>
              <a:rPr sz="1800" b="1">
                <a:solidFill>
                  <a:srgbClr val="2DD48F"/>
                </a:solidFill>
                <a:latin typeface="Segoe UI"/>
              </a:rPr>
              <a:t>»  </a:t>
            </a:r>
            <a:r>
              <a:rPr sz="1800" b="0">
                <a:solidFill>
                  <a:srgbClr val="EAF2FF"/>
                </a:solidFill>
                <a:latin typeface="Segoe UI"/>
              </a:rPr>
              <a:t>Nothing both acts and judges — stages are separated</a:t>
            </a:r>
          </a:p>
          <a:p>
            <a:pPr>
              <a:spcAft>
                <a:spcPts val="1500"/>
              </a:spcAft>
            </a:pPr>
            <a:r>
              <a:rPr sz="1800" b="1">
                <a:solidFill>
                  <a:srgbClr val="E84BFF"/>
                </a:solidFill>
                <a:latin typeface="Segoe UI"/>
              </a:rPr>
              <a:t>»  </a:t>
            </a:r>
            <a:r>
              <a:rPr sz="1800" b="0">
                <a:solidFill>
                  <a:srgbClr val="C4D2E4"/>
                </a:solidFill>
                <a:latin typeface="Segoe UI"/>
              </a:rPr>
              <a:t>Credentials never persisted or logged; in-memory per run</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Market Landscape</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Where autonomous, provable reasoning fits</a:t>
            </a:r>
          </a:p>
        </p:txBody>
      </p:sp>
      <p:sp>
        <p:nvSpPr>
          <p:cNvPr id="8" name="TextBox 7"/>
          <p:cNvSpPr txBox="1"/>
          <p:nvPr/>
        </p:nvSpPr>
        <p:spPr>
          <a:xfrm>
            <a:off x="6537960" y="2395728"/>
            <a:ext cx="1691640" cy="640080"/>
          </a:xfrm>
          <a:prstGeom prst="rect">
            <a:avLst/>
          </a:prstGeom>
          <a:noFill/>
        </p:spPr>
        <p:txBody>
          <a:bodyPr wrap="square" anchor="b" lIns="0" rIns="0" tIns="0" bIns="0">
            <a:spAutoFit/>
          </a:bodyPr>
          <a:lstStyle/>
          <a:p>
            <a:pPr algn="ctr"/>
            <a:r>
              <a:rPr sz="1200" b="1">
                <a:solidFill>
                  <a:srgbClr val="EAF2FF"/>
                </a:solidFill>
                <a:latin typeface="Consolas"/>
              </a:rPr>
              <a:t>Signature</a:t>
            </a:r>
          </a:p>
          <a:p>
            <a:pPr algn="ctr"/>
            <a:r>
              <a:rPr sz="1200" b="1">
                <a:solidFill>
                  <a:srgbClr val="EAF2FF"/>
                </a:solidFill>
                <a:latin typeface="Consolas"/>
              </a:rPr>
              <a:t>scanners</a:t>
            </a:r>
          </a:p>
        </p:txBody>
      </p:sp>
      <p:sp>
        <p:nvSpPr>
          <p:cNvPr id="9" name="TextBox 8"/>
          <p:cNvSpPr txBox="1"/>
          <p:nvPr/>
        </p:nvSpPr>
        <p:spPr>
          <a:xfrm>
            <a:off x="8229600" y="2395728"/>
            <a:ext cx="1691640" cy="640080"/>
          </a:xfrm>
          <a:prstGeom prst="rect">
            <a:avLst/>
          </a:prstGeom>
          <a:noFill/>
        </p:spPr>
        <p:txBody>
          <a:bodyPr wrap="square" anchor="b" lIns="0" rIns="0" tIns="0" bIns="0">
            <a:spAutoFit/>
          </a:bodyPr>
          <a:lstStyle/>
          <a:p>
            <a:pPr algn="ctr"/>
            <a:r>
              <a:rPr sz="1200" b="1">
                <a:solidFill>
                  <a:srgbClr val="EAF2FF"/>
                </a:solidFill>
                <a:latin typeface="Consolas"/>
              </a:rPr>
              <a:t>DAST /</a:t>
            </a:r>
          </a:p>
          <a:p>
            <a:pPr algn="ctr"/>
            <a:r>
              <a:rPr sz="1200" b="1">
                <a:solidFill>
                  <a:srgbClr val="EAF2FF"/>
                </a:solidFill>
                <a:latin typeface="Consolas"/>
              </a:rPr>
              <a:t>fuzzers</a:t>
            </a:r>
          </a:p>
        </p:txBody>
      </p:sp>
      <p:sp>
        <p:nvSpPr>
          <p:cNvPr id="10" name="TextBox 9"/>
          <p:cNvSpPr txBox="1"/>
          <p:nvPr/>
        </p:nvSpPr>
        <p:spPr>
          <a:xfrm>
            <a:off x="9921240" y="2395728"/>
            <a:ext cx="1691640" cy="640080"/>
          </a:xfrm>
          <a:prstGeom prst="rect">
            <a:avLst/>
          </a:prstGeom>
          <a:noFill/>
        </p:spPr>
        <p:txBody>
          <a:bodyPr wrap="square" anchor="b" lIns="0" rIns="0" tIns="0" bIns="0">
            <a:spAutoFit/>
          </a:bodyPr>
          <a:lstStyle/>
          <a:p>
            <a:pPr algn="ctr"/>
            <a:r>
              <a:rPr sz="1200" b="1">
                <a:solidFill>
                  <a:srgbClr val="EAF2FF"/>
                </a:solidFill>
                <a:latin typeface="Consolas"/>
              </a:rPr>
              <a:t>Sentinel</a:t>
            </a:r>
          </a:p>
        </p:txBody>
      </p:sp>
      <p:sp>
        <p:nvSpPr>
          <p:cNvPr id="11" name="Rectangle 10"/>
          <p:cNvSpPr/>
          <p:nvPr/>
        </p:nvSpPr>
        <p:spPr>
          <a:xfrm>
            <a:off x="548640" y="3108960"/>
            <a:ext cx="11064240" cy="475488"/>
          </a:xfrm>
          <a:prstGeom prst="rect">
            <a:avLst/>
          </a:prstGeom>
          <a:solidFill>
            <a:srgbClr val="10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08960"/>
            <a:ext cx="5669280" cy="475488"/>
          </a:xfrm>
          <a:prstGeom prst="rect">
            <a:avLst/>
          </a:prstGeom>
          <a:noFill/>
        </p:spPr>
        <p:txBody>
          <a:bodyPr wrap="square" anchor="ctr" lIns="0" rIns="0" tIns="0" bIns="0">
            <a:spAutoFit/>
          </a:bodyPr>
          <a:lstStyle/>
          <a:p>
            <a:r>
              <a:rPr sz="1400" b="0">
                <a:solidFill>
                  <a:srgbClr val="C4D2E4"/>
                </a:solidFill>
                <a:latin typeface="Segoe UI"/>
              </a:rPr>
              <a:t>Finds authorization / BOLA flaws</a:t>
            </a:r>
          </a:p>
        </p:txBody>
      </p:sp>
      <p:sp>
        <p:nvSpPr>
          <p:cNvPr id="13" name="TextBox 12"/>
          <p:cNvSpPr txBox="1"/>
          <p:nvPr/>
        </p:nvSpPr>
        <p:spPr>
          <a:xfrm>
            <a:off x="6537960" y="3108960"/>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14" name="TextBox 13"/>
          <p:cNvSpPr txBox="1"/>
          <p:nvPr/>
        </p:nvSpPr>
        <p:spPr>
          <a:xfrm>
            <a:off x="8229600" y="3108960"/>
            <a:ext cx="1691640" cy="475488"/>
          </a:xfrm>
          <a:prstGeom prst="rect">
            <a:avLst/>
          </a:prstGeom>
          <a:noFill/>
        </p:spPr>
        <p:txBody>
          <a:bodyPr wrap="square" anchor="ctr" lIns="0" rIns="0" tIns="0" bIns="0">
            <a:spAutoFit/>
          </a:bodyPr>
          <a:lstStyle/>
          <a:p>
            <a:pPr algn="ctr"/>
            <a:r>
              <a:rPr sz="1800" b="1">
                <a:solidFill>
                  <a:srgbClr val="F5B301"/>
                </a:solidFill>
                <a:latin typeface="Segoe UI Symbol"/>
              </a:rPr>
              <a:t>~</a:t>
            </a:r>
          </a:p>
        </p:txBody>
      </p:sp>
      <p:sp>
        <p:nvSpPr>
          <p:cNvPr id="15" name="TextBox 14"/>
          <p:cNvSpPr txBox="1"/>
          <p:nvPr/>
        </p:nvSpPr>
        <p:spPr>
          <a:xfrm>
            <a:off x="9921240" y="3108960"/>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16" name="TextBox 15"/>
          <p:cNvSpPr txBox="1"/>
          <p:nvPr/>
        </p:nvSpPr>
        <p:spPr>
          <a:xfrm>
            <a:off x="658368" y="3584448"/>
            <a:ext cx="5669280" cy="475488"/>
          </a:xfrm>
          <a:prstGeom prst="rect">
            <a:avLst/>
          </a:prstGeom>
          <a:noFill/>
        </p:spPr>
        <p:txBody>
          <a:bodyPr wrap="square" anchor="ctr" lIns="0" rIns="0" tIns="0" bIns="0">
            <a:spAutoFit/>
          </a:bodyPr>
          <a:lstStyle/>
          <a:p>
            <a:r>
              <a:rPr sz="1400" b="0">
                <a:solidFill>
                  <a:srgbClr val="C4D2E4"/>
                </a:solidFill>
                <a:latin typeface="Segoe UI"/>
              </a:rPr>
              <a:t>Verdict is a reproduced contradiction</a:t>
            </a:r>
          </a:p>
        </p:txBody>
      </p:sp>
      <p:sp>
        <p:nvSpPr>
          <p:cNvPr id="17" name="TextBox 16"/>
          <p:cNvSpPr txBox="1"/>
          <p:nvPr/>
        </p:nvSpPr>
        <p:spPr>
          <a:xfrm>
            <a:off x="6537960" y="3584448"/>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18" name="TextBox 17"/>
          <p:cNvSpPr txBox="1"/>
          <p:nvPr/>
        </p:nvSpPr>
        <p:spPr>
          <a:xfrm>
            <a:off x="8229600" y="3584448"/>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19" name="TextBox 18"/>
          <p:cNvSpPr txBox="1"/>
          <p:nvPr/>
        </p:nvSpPr>
        <p:spPr>
          <a:xfrm>
            <a:off x="9921240" y="3584448"/>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20" name="Rectangle 19"/>
          <p:cNvSpPr/>
          <p:nvPr/>
        </p:nvSpPr>
        <p:spPr>
          <a:xfrm>
            <a:off x="548640" y="4059936"/>
            <a:ext cx="11064240" cy="475488"/>
          </a:xfrm>
          <a:prstGeom prst="rect">
            <a:avLst/>
          </a:prstGeom>
          <a:solidFill>
            <a:srgbClr val="10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059936"/>
            <a:ext cx="5669280" cy="475488"/>
          </a:xfrm>
          <a:prstGeom prst="rect">
            <a:avLst/>
          </a:prstGeom>
          <a:noFill/>
        </p:spPr>
        <p:txBody>
          <a:bodyPr wrap="square" anchor="ctr" lIns="0" rIns="0" tIns="0" bIns="0">
            <a:spAutoFit/>
          </a:bodyPr>
          <a:lstStyle/>
          <a:p>
            <a:r>
              <a:rPr sz="1400" b="0">
                <a:solidFill>
                  <a:srgbClr val="C4D2E4"/>
                </a:solidFill>
                <a:latin typeface="Segoe UI"/>
              </a:rPr>
              <a:t>Proves the fix, live</a:t>
            </a:r>
          </a:p>
        </p:txBody>
      </p:sp>
      <p:sp>
        <p:nvSpPr>
          <p:cNvPr id="22" name="TextBox 21"/>
          <p:cNvSpPr txBox="1"/>
          <p:nvPr/>
        </p:nvSpPr>
        <p:spPr>
          <a:xfrm>
            <a:off x="6537960" y="4059936"/>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23" name="TextBox 22"/>
          <p:cNvSpPr txBox="1"/>
          <p:nvPr/>
        </p:nvSpPr>
        <p:spPr>
          <a:xfrm>
            <a:off x="8229600" y="4059936"/>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24" name="TextBox 23"/>
          <p:cNvSpPr txBox="1"/>
          <p:nvPr/>
        </p:nvSpPr>
        <p:spPr>
          <a:xfrm>
            <a:off x="9921240" y="4059936"/>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25" name="TextBox 24"/>
          <p:cNvSpPr txBox="1"/>
          <p:nvPr/>
        </p:nvSpPr>
        <p:spPr>
          <a:xfrm>
            <a:off x="658368" y="4535424"/>
            <a:ext cx="5669280" cy="475488"/>
          </a:xfrm>
          <a:prstGeom prst="rect">
            <a:avLst/>
          </a:prstGeom>
          <a:noFill/>
        </p:spPr>
        <p:txBody>
          <a:bodyPr wrap="square" anchor="ctr" lIns="0" rIns="0" tIns="0" bIns="0">
            <a:spAutoFit/>
          </a:bodyPr>
          <a:lstStyle/>
          <a:p>
            <a:r>
              <a:rPr sz="1400" b="0">
                <a:solidFill>
                  <a:srgbClr val="C4D2E4"/>
                </a:solidFill>
                <a:latin typeface="Segoe UI"/>
              </a:rPr>
              <a:t>Autonomous, self-directed research</a:t>
            </a:r>
          </a:p>
        </p:txBody>
      </p:sp>
      <p:sp>
        <p:nvSpPr>
          <p:cNvPr id="26" name="TextBox 25"/>
          <p:cNvSpPr txBox="1"/>
          <p:nvPr/>
        </p:nvSpPr>
        <p:spPr>
          <a:xfrm>
            <a:off x="6537960" y="4535424"/>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27" name="TextBox 26"/>
          <p:cNvSpPr txBox="1"/>
          <p:nvPr/>
        </p:nvSpPr>
        <p:spPr>
          <a:xfrm>
            <a:off x="8229600" y="4535424"/>
            <a:ext cx="1691640" cy="475488"/>
          </a:xfrm>
          <a:prstGeom prst="rect">
            <a:avLst/>
          </a:prstGeom>
          <a:noFill/>
        </p:spPr>
        <p:txBody>
          <a:bodyPr wrap="square" anchor="ctr" lIns="0" rIns="0" tIns="0" bIns="0">
            <a:spAutoFit/>
          </a:bodyPr>
          <a:lstStyle/>
          <a:p>
            <a:pPr algn="ctr"/>
            <a:r>
              <a:rPr sz="1800" b="1">
                <a:solidFill>
                  <a:srgbClr val="F5B301"/>
                </a:solidFill>
                <a:latin typeface="Segoe UI Symbol"/>
              </a:rPr>
              <a:t>~</a:t>
            </a:r>
          </a:p>
        </p:txBody>
      </p:sp>
      <p:sp>
        <p:nvSpPr>
          <p:cNvPr id="28" name="TextBox 27"/>
          <p:cNvSpPr txBox="1"/>
          <p:nvPr/>
        </p:nvSpPr>
        <p:spPr>
          <a:xfrm>
            <a:off x="9921240" y="4535424"/>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29" name="Rectangle 28"/>
          <p:cNvSpPr/>
          <p:nvPr/>
        </p:nvSpPr>
        <p:spPr>
          <a:xfrm>
            <a:off x="548640" y="5010912"/>
            <a:ext cx="11064240" cy="475488"/>
          </a:xfrm>
          <a:prstGeom prst="rect">
            <a:avLst/>
          </a:prstGeom>
          <a:solidFill>
            <a:srgbClr val="101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5010912"/>
            <a:ext cx="5669280" cy="475488"/>
          </a:xfrm>
          <a:prstGeom prst="rect">
            <a:avLst/>
          </a:prstGeom>
          <a:noFill/>
        </p:spPr>
        <p:txBody>
          <a:bodyPr wrap="square" anchor="ctr" lIns="0" rIns="0" tIns="0" bIns="0">
            <a:spAutoFit/>
          </a:bodyPr>
          <a:lstStyle/>
          <a:p>
            <a:r>
              <a:rPr sz="1400" b="0">
                <a:solidFill>
                  <a:srgbClr val="C4D2E4"/>
                </a:solidFill>
                <a:latin typeface="Segoe UI"/>
              </a:rPr>
              <a:t>Local-first, no data egress</a:t>
            </a:r>
          </a:p>
        </p:txBody>
      </p:sp>
      <p:sp>
        <p:nvSpPr>
          <p:cNvPr id="31" name="TextBox 30"/>
          <p:cNvSpPr txBox="1"/>
          <p:nvPr/>
        </p:nvSpPr>
        <p:spPr>
          <a:xfrm>
            <a:off x="6537960" y="5010912"/>
            <a:ext cx="1691640" cy="475488"/>
          </a:xfrm>
          <a:prstGeom prst="rect">
            <a:avLst/>
          </a:prstGeom>
          <a:noFill/>
        </p:spPr>
        <p:txBody>
          <a:bodyPr wrap="square" anchor="ctr" lIns="0" rIns="0" tIns="0" bIns="0">
            <a:spAutoFit/>
          </a:bodyPr>
          <a:lstStyle/>
          <a:p>
            <a:pPr algn="ctr"/>
            <a:r>
              <a:rPr sz="1800" b="1">
                <a:solidFill>
                  <a:srgbClr val="F5B301"/>
                </a:solidFill>
                <a:latin typeface="Segoe UI Symbol"/>
              </a:rPr>
              <a:t>~</a:t>
            </a:r>
          </a:p>
        </p:txBody>
      </p:sp>
      <p:sp>
        <p:nvSpPr>
          <p:cNvPr id="32" name="TextBox 31"/>
          <p:cNvSpPr txBox="1"/>
          <p:nvPr/>
        </p:nvSpPr>
        <p:spPr>
          <a:xfrm>
            <a:off x="8229600" y="5010912"/>
            <a:ext cx="1691640" cy="475488"/>
          </a:xfrm>
          <a:prstGeom prst="rect">
            <a:avLst/>
          </a:prstGeom>
          <a:noFill/>
        </p:spPr>
        <p:txBody>
          <a:bodyPr wrap="square" anchor="ctr" lIns="0" rIns="0" tIns="0" bIns="0">
            <a:spAutoFit/>
          </a:bodyPr>
          <a:lstStyle/>
          <a:p>
            <a:pPr algn="ctr"/>
            <a:r>
              <a:rPr sz="1800" b="1">
                <a:solidFill>
                  <a:srgbClr val="F5B301"/>
                </a:solidFill>
                <a:latin typeface="Segoe UI Symbol"/>
              </a:rPr>
              <a:t>~</a:t>
            </a:r>
          </a:p>
        </p:txBody>
      </p:sp>
      <p:sp>
        <p:nvSpPr>
          <p:cNvPr id="33" name="TextBox 32"/>
          <p:cNvSpPr txBox="1"/>
          <p:nvPr/>
        </p:nvSpPr>
        <p:spPr>
          <a:xfrm>
            <a:off x="9921240" y="5010912"/>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34" name="TextBox 33"/>
          <p:cNvSpPr txBox="1"/>
          <p:nvPr/>
        </p:nvSpPr>
        <p:spPr>
          <a:xfrm>
            <a:off x="658368" y="5486400"/>
            <a:ext cx="5669280" cy="475488"/>
          </a:xfrm>
          <a:prstGeom prst="rect">
            <a:avLst/>
          </a:prstGeom>
          <a:noFill/>
        </p:spPr>
        <p:txBody>
          <a:bodyPr wrap="square" anchor="ctr" lIns="0" rIns="0" tIns="0" bIns="0">
            <a:spAutoFit/>
          </a:bodyPr>
          <a:lstStyle/>
          <a:p>
            <a:r>
              <a:rPr sz="1400" b="0">
                <a:solidFill>
                  <a:srgbClr val="C4D2E4"/>
                </a:solidFill>
                <a:latin typeface="Segoe UI"/>
              </a:rPr>
              <a:t>Every decision auditable</a:t>
            </a:r>
          </a:p>
        </p:txBody>
      </p:sp>
      <p:sp>
        <p:nvSpPr>
          <p:cNvPr id="35" name="TextBox 34"/>
          <p:cNvSpPr txBox="1"/>
          <p:nvPr/>
        </p:nvSpPr>
        <p:spPr>
          <a:xfrm>
            <a:off x="6537960" y="5486400"/>
            <a:ext cx="1691640" cy="475488"/>
          </a:xfrm>
          <a:prstGeom prst="rect">
            <a:avLst/>
          </a:prstGeom>
          <a:noFill/>
        </p:spPr>
        <p:txBody>
          <a:bodyPr wrap="square" anchor="ctr" lIns="0" rIns="0" tIns="0" bIns="0">
            <a:spAutoFit/>
          </a:bodyPr>
          <a:lstStyle/>
          <a:p>
            <a:pPr algn="ctr"/>
            <a:r>
              <a:rPr sz="1800" b="1">
                <a:solidFill>
                  <a:srgbClr val="F5B301"/>
                </a:solidFill>
                <a:latin typeface="Segoe UI Symbol"/>
              </a:rPr>
              <a:t>~</a:t>
            </a:r>
          </a:p>
        </p:txBody>
      </p:sp>
      <p:sp>
        <p:nvSpPr>
          <p:cNvPr id="36" name="TextBox 35"/>
          <p:cNvSpPr txBox="1"/>
          <p:nvPr/>
        </p:nvSpPr>
        <p:spPr>
          <a:xfrm>
            <a:off x="8229600" y="5486400"/>
            <a:ext cx="1691640" cy="475488"/>
          </a:xfrm>
          <a:prstGeom prst="rect">
            <a:avLst/>
          </a:prstGeom>
          <a:noFill/>
        </p:spPr>
        <p:txBody>
          <a:bodyPr wrap="square" anchor="ctr" lIns="0" rIns="0" tIns="0" bIns="0">
            <a:spAutoFit/>
          </a:bodyPr>
          <a:lstStyle/>
          <a:p>
            <a:pPr algn="ctr"/>
            <a:r>
              <a:rPr sz="1800" b="1">
                <a:solidFill>
                  <a:srgbClr val="FF5C6E"/>
                </a:solidFill>
                <a:latin typeface="Segoe UI Symbol"/>
              </a:rPr>
              <a:t>✗</a:t>
            </a:r>
          </a:p>
        </p:txBody>
      </p:sp>
      <p:sp>
        <p:nvSpPr>
          <p:cNvPr id="37" name="TextBox 36"/>
          <p:cNvSpPr txBox="1"/>
          <p:nvPr/>
        </p:nvSpPr>
        <p:spPr>
          <a:xfrm>
            <a:off x="9921240" y="5486400"/>
            <a:ext cx="1691640" cy="475488"/>
          </a:xfrm>
          <a:prstGeom prst="rect">
            <a:avLst/>
          </a:prstGeom>
          <a:noFill/>
        </p:spPr>
        <p:txBody>
          <a:bodyPr wrap="square" anchor="ctr" lIns="0" rIns="0" tIns="0" bIns="0">
            <a:spAutoFit/>
          </a:bodyPr>
          <a:lstStyle/>
          <a:p>
            <a:pPr algn="ctr"/>
            <a:r>
              <a:rPr sz="1800" b="1">
                <a:solidFill>
                  <a:srgbClr val="2DD48F"/>
                </a:solidFill>
                <a:latin typeface="Segoe UI Symbol"/>
              </a:rPr>
              <a:t>✓</a:t>
            </a:r>
          </a:p>
        </p:txBody>
      </p:sp>
      <p:sp>
        <p:nvSpPr>
          <p:cNvPr id="38" name="TextBox 37"/>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39" name="TextBox 38"/>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Why Sentinel Wins</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The defensible core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2D3EE"/>
                </a:solidFill>
                <a:latin typeface="Segoe UI"/>
              </a:rPr>
              <a:t>»  </a:t>
            </a:r>
            <a:r>
              <a:rPr sz="1800" b="0">
                <a:solidFill>
                  <a:srgbClr val="C4D2E4"/>
                </a:solidFill>
                <a:latin typeface="Segoe UI"/>
              </a:rPr>
              <a:t>Trust: a finding is a reproduced contradiction, provably</a:t>
            </a:r>
          </a:p>
          <a:p>
            <a:pPr>
              <a:spcAft>
                <a:spcPts val="1500"/>
              </a:spcAft>
            </a:pPr>
            <a:r>
              <a:rPr sz="1800" b="1">
                <a:solidFill>
                  <a:srgbClr val="22D3EE"/>
                </a:solidFill>
                <a:latin typeface="Segoe UI"/>
              </a:rPr>
              <a:t>»  </a:t>
            </a:r>
            <a:r>
              <a:rPr sz="1800" b="0">
                <a:solidFill>
                  <a:srgbClr val="C4D2E4"/>
                </a:solidFill>
                <a:latin typeface="Segoe UI"/>
              </a:rPr>
              <a:t>Closure: it doesn't just find — it patches and re-proves</a:t>
            </a:r>
          </a:p>
          <a:p>
            <a:pPr>
              <a:spcAft>
                <a:spcPts val="1500"/>
              </a:spcAft>
            </a:pPr>
            <a:r>
              <a:rPr sz="1800" b="1">
                <a:solidFill>
                  <a:srgbClr val="22D3EE"/>
                </a:solidFill>
                <a:latin typeface="Segoe UI"/>
              </a:rPr>
              <a:t>»  </a:t>
            </a:r>
            <a:r>
              <a:rPr sz="1800" b="0">
                <a:solidFill>
                  <a:srgbClr val="C4D2E4"/>
                </a:solidFill>
                <a:latin typeface="Segoe UI"/>
              </a:rPr>
              <a:t>Reach: the classes signatures miss (authz, session)</a:t>
            </a:r>
          </a:p>
          <a:p>
            <a:pPr>
              <a:spcAft>
                <a:spcPts val="1500"/>
              </a:spcAft>
            </a:pPr>
            <a:r>
              <a:rPr sz="1800" b="1">
                <a:solidFill>
                  <a:srgbClr val="22D3EE"/>
                </a:solidFill>
                <a:latin typeface="Segoe UI"/>
              </a:rPr>
              <a:t>»  </a:t>
            </a:r>
            <a:r>
              <a:rPr sz="1800" b="0">
                <a:solidFill>
                  <a:srgbClr val="C4D2E4"/>
                </a:solidFill>
                <a:latin typeface="Segoe UI"/>
              </a:rPr>
              <a:t>Honesty: compliant controls and frontiers labeled, not faked</a:t>
            </a:r>
          </a:p>
          <a:p>
            <a:pPr>
              <a:spcAft>
                <a:spcPts val="1500"/>
              </a:spcAft>
            </a:pPr>
            <a:r>
              <a:rPr sz="1800" b="1">
                <a:solidFill>
                  <a:srgbClr val="22D3EE"/>
                </a:solidFill>
                <a:latin typeface="Segoe UI"/>
              </a:rPr>
              <a:t>»  </a:t>
            </a:r>
            <a:r>
              <a:rPr sz="1800" b="0">
                <a:solidFill>
                  <a:srgbClr val="C4D2E4"/>
                </a:solidFill>
                <a:latin typeface="Segoe UI"/>
              </a:rPr>
              <a:t>Deployability: local, auditable, air-gap-ready</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Status &amp; Roadmap</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Honest today; a clear path to more</a:t>
            </a:r>
          </a:p>
        </p:txBody>
      </p:sp>
      <p:sp>
        <p:nvSpPr>
          <p:cNvPr id="8" name="TextBox 7"/>
          <p:cNvSpPr txBox="1"/>
          <p:nvPr/>
        </p:nvSpPr>
        <p:spPr>
          <a:xfrm>
            <a:off x="713232" y="2697480"/>
            <a:ext cx="10789920" cy="3840480"/>
          </a:xfrm>
          <a:prstGeom prst="rect">
            <a:avLst/>
          </a:prstGeom>
          <a:noFill/>
        </p:spPr>
        <p:txBody>
          <a:bodyPr wrap="square" anchor="t" lIns="0" rIns="0" tIns="0" bIns="0">
            <a:spAutoFit/>
          </a:bodyPr>
          <a:lstStyle/>
          <a:p>
            <a:pPr>
              <a:spcAft>
                <a:spcPts val="1500"/>
              </a:spcAft>
            </a:pPr>
            <a:r>
              <a:rPr sz="1800" b="1">
                <a:solidFill>
                  <a:srgbClr val="2DD48F"/>
                </a:solidFill>
                <a:latin typeface="Segoe UI"/>
              </a:rPr>
              <a:t>»  </a:t>
            </a:r>
            <a:r>
              <a:rPr sz="1800" b="0">
                <a:solidFill>
                  <a:srgbClr val="EAF2FF"/>
                </a:solidFill>
                <a:latin typeface="Segoe UI"/>
              </a:rPr>
              <a:t>Today: 12 classes + provable chaining, live on 2 stacks; 454 tests</a:t>
            </a:r>
          </a:p>
          <a:p>
            <a:pPr>
              <a:spcAft>
                <a:spcPts val="1500"/>
              </a:spcAft>
            </a:pPr>
            <a:r>
              <a:rPr sz="1800" b="1">
                <a:solidFill>
                  <a:srgbClr val="2DD48F"/>
                </a:solidFill>
                <a:latin typeface="Segoe UI"/>
              </a:rPr>
              <a:t>»  </a:t>
            </a:r>
            <a:r>
              <a:rPr sz="1800" b="0">
                <a:solidFill>
                  <a:srgbClr val="EAF2FF"/>
                </a:solidFill>
                <a:latin typeface="Segoe UI"/>
              </a:rPr>
              <a:t>Today: autonomous &lt;url&gt; fusion loop + curated tool selector</a:t>
            </a:r>
          </a:p>
          <a:p>
            <a:pPr>
              <a:spcAft>
                <a:spcPts val="1500"/>
              </a:spcAft>
            </a:pPr>
            <a:r>
              <a:rPr sz="1800" b="1">
                <a:solidFill>
                  <a:srgbClr val="2DD48F"/>
                </a:solidFill>
                <a:latin typeface="Segoe UI"/>
              </a:rPr>
              <a:t>»  </a:t>
            </a:r>
            <a:r>
              <a:rPr sz="1800" b="0">
                <a:solidFill>
                  <a:srgbClr val="EAF2FF"/>
                </a:solidFill>
                <a:latin typeface="Segoe UI"/>
              </a:rPr>
              <a:t>Today: pluggable LLM providers + proof-carrying report generator</a:t>
            </a:r>
          </a:p>
          <a:p>
            <a:pPr>
              <a:spcAft>
                <a:spcPts val="1500"/>
              </a:spcAft>
            </a:pPr>
            <a:r>
              <a:rPr sz="1800" b="1">
                <a:solidFill>
                  <a:srgbClr val="F5B301"/>
                </a:solidFill>
                <a:latin typeface="Segoe UI"/>
              </a:rPr>
              <a:t>»  </a:t>
            </a:r>
            <a:r>
              <a:rPr sz="1800" b="0">
                <a:solidFill>
                  <a:srgbClr val="EAF2FF"/>
                </a:solidFill>
                <a:latin typeface="Segoe UI"/>
              </a:rPr>
              <a:t>Next: failure-cause analysis + bounded retry — smarter probing</a:t>
            </a:r>
          </a:p>
          <a:p>
            <a:pPr>
              <a:spcAft>
                <a:spcPts val="1500"/>
              </a:spcAft>
            </a:pPr>
            <a:r>
              <a:rPr sz="1800" b="1">
                <a:solidFill>
                  <a:srgbClr val="F5B301"/>
                </a:solidFill>
                <a:latin typeface="Segoe UI"/>
              </a:rPr>
              <a:t>»  </a:t>
            </a:r>
            <a:r>
              <a:rPr sz="1800" b="0">
                <a:solidFill>
                  <a:srgbClr val="EAF2FF"/>
                </a:solidFill>
                <a:latin typeface="Segoe UI"/>
              </a:rPr>
              <a:t>Next: Tier-B classes (cmd-injection, XXE…), deeper KB, CI gate</a:t>
            </a:r>
          </a:p>
        </p:txBody>
      </p:sp>
      <p:sp>
        <p:nvSpPr>
          <p:cNvPr id="9" name="TextBox 8"/>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0" name="TextBox 9"/>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png"/>
          <p:cNvPicPr>
            <a:picLocks noChangeAspect="1"/>
          </p:cNvPicPr>
          <p:nvPr/>
        </p:nvPicPr>
        <p:blipFill>
          <a:blip r:embed="rId2"/>
          <a:stretch>
            <a:fillRect/>
          </a:stretch>
        </p:blipFill>
        <p:spPr>
          <a:xfrm>
            <a:off x="0" y="0"/>
            <a:ext cx="12191695" cy="6858000"/>
          </a:xfrm>
          <a:prstGeom prst="rect">
            <a:avLst/>
          </a:prstGeom>
        </p:spPr>
      </p:pic>
      <p:pic>
        <p:nvPicPr>
          <p:cNvPr id="3" name="Picture 2" descr="sentinel_mark.png"/>
          <p:cNvPicPr>
            <a:picLocks noChangeAspect="1"/>
          </p:cNvPicPr>
          <p:nvPr/>
        </p:nvPicPr>
        <p:blipFill>
          <a:blip r:embed="rId3"/>
          <a:stretch>
            <a:fillRect/>
          </a:stretch>
        </p:blipFill>
        <p:spPr>
          <a:xfrm>
            <a:off x="566928" y="457200"/>
            <a:ext cx="749808" cy="749808"/>
          </a:xfrm>
          <a:prstGeom prst="rect">
            <a:avLst/>
          </a:prstGeom>
        </p:spPr>
      </p:pic>
      <p:sp>
        <p:nvSpPr>
          <p:cNvPr id="4" name="Rounded Rectangle 3"/>
          <p:cNvSpPr/>
          <p:nvPr/>
        </p:nvSpPr>
        <p:spPr>
          <a:xfrm>
            <a:off x="10195560" y="457200"/>
            <a:ext cx="1554480" cy="384048"/>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22D3EE"/>
                </a:solidFill>
                <a:latin typeface="Consolas"/>
              </a:rPr>
              <a:t>AI KAVACH</a:t>
            </a:r>
          </a:p>
        </p:txBody>
      </p:sp>
      <p:sp>
        <p:nvSpPr>
          <p:cNvPr id="5" name="TextBox 4"/>
          <p:cNvSpPr txBox="1"/>
          <p:nvPr/>
        </p:nvSpPr>
        <p:spPr>
          <a:xfrm>
            <a:off x="1508760" y="475488"/>
            <a:ext cx="8503920" cy="1051560"/>
          </a:xfrm>
          <a:prstGeom prst="rect">
            <a:avLst/>
          </a:prstGeom>
          <a:noFill/>
        </p:spPr>
        <p:txBody>
          <a:bodyPr wrap="square" anchor="ctr" lIns="0" rIns="0" tIns="0" bIns="0">
            <a:spAutoFit/>
          </a:bodyPr>
          <a:lstStyle/>
          <a:p>
            <a:r>
              <a:rPr sz="3100" b="1">
                <a:solidFill>
                  <a:srgbClr val="EAF2FF"/>
                </a:solidFill>
                <a:latin typeface="Consolas"/>
              </a:rPr>
              <a:t>The Ask</a:t>
            </a:r>
          </a:p>
        </p:txBody>
      </p:sp>
      <p:pic>
        <p:nvPicPr>
          <p:cNvPr id="6" name="Picture 5" descr="deck_rule.png"/>
          <p:cNvPicPr>
            <a:picLocks noChangeAspect="1"/>
          </p:cNvPicPr>
          <p:nvPr/>
        </p:nvPicPr>
        <p:blipFill>
          <a:blip r:embed="rId4"/>
          <a:stretch>
            <a:fillRect/>
          </a:stretch>
        </p:blipFill>
        <p:spPr>
          <a:xfrm>
            <a:off x="640080" y="1664208"/>
            <a:ext cx="3108960" cy="56692"/>
          </a:xfrm>
          <a:prstGeom prst="rect">
            <a:avLst/>
          </a:prstGeom>
        </p:spPr>
      </p:pic>
      <p:sp>
        <p:nvSpPr>
          <p:cNvPr id="7" name="TextBox 6"/>
          <p:cNvSpPr txBox="1"/>
          <p:nvPr/>
        </p:nvSpPr>
        <p:spPr>
          <a:xfrm>
            <a:off x="658368" y="1847088"/>
            <a:ext cx="10881360" cy="548640"/>
          </a:xfrm>
          <a:prstGeom prst="rect">
            <a:avLst/>
          </a:prstGeom>
          <a:noFill/>
        </p:spPr>
        <p:txBody>
          <a:bodyPr wrap="square" anchor="t" lIns="0" rIns="0" tIns="0" bIns="0">
            <a:spAutoFit/>
          </a:bodyPr>
          <a:lstStyle/>
          <a:p>
            <a:r>
              <a:rPr sz="1600" b="0">
                <a:solidFill>
                  <a:srgbClr val="22D3EE"/>
                </a:solidFill>
                <a:latin typeface="Consolas"/>
              </a:rPr>
              <a:t>$1M to turn a proven engine into a platform</a:t>
            </a:r>
          </a:p>
        </p:txBody>
      </p:sp>
      <p:sp>
        <p:nvSpPr>
          <p:cNvPr id="8" name="Rounded Rectangle 7"/>
          <p:cNvSpPr/>
          <p:nvPr/>
        </p:nvSpPr>
        <p:spPr>
          <a:xfrm>
            <a:off x="603504" y="2395728"/>
            <a:ext cx="344424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$1M</a:t>
            </a:r>
          </a:p>
          <a:p>
            <a:pPr algn="ctr"/>
            <a:r>
              <a:rPr sz="1100" b="0">
                <a:solidFill>
                  <a:srgbClr val="6B7A90"/>
                </a:solidFill>
                <a:latin typeface="Consolas"/>
              </a:rPr>
              <a:t>SEED</a:t>
            </a:r>
          </a:p>
        </p:txBody>
      </p:sp>
      <p:sp>
        <p:nvSpPr>
          <p:cNvPr id="9" name="Rounded Rectangle 8"/>
          <p:cNvSpPr/>
          <p:nvPr/>
        </p:nvSpPr>
        <p:spPr>
          <a:xfrm>
            <a:off x="4367784" y="2395728"/>
            <a:ext cx="344424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18</a:t>
            </a:r>
          </a:p>
          <a:p>
            <a:pPr algn="ctr"/>
            <a:r>
              <a:rPr sz="1100" b="0">
                <a:solidFill>
                  <a:srgbClr val="6B7A90"/>
                </a:solidFill>
                <a:latin typeface="Consolas"/>
              </a:rPr>
              <a:t>MONTHS RUNWAY</a:t>
            </a:r>
          </a:p>
        </p:txBody>
      </p:sp>
      <p:sp>
        <p:nvSpPr>
          <p:cNvPr id="10" name="Rounded Rectangle 9"/>
          <p:cNvSpPr/>
          <p:nvPr/>
        </p:nvSpPr>
        <p:spPr>
          <a:xfrm>
            <a:off x="8132064" y="2395728"/>
            <a:ext cx="3444240" cy="1143000"/>
          </a:xfrm>
          <a:prstGeom prst="roundRect">
            <a:avLst/>
          </a:prstGeom>
          <a:no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200" b="1">
                <a:solidFill>
                  <a:srgbClr val="22D3EE"/>
                </a:solidFill>
                <a:latin typeface="Consolas"/>
              </a:rPr>
              <a:t>12→18+</a:t>
            </a:r>
          </a:p>
          <a:p>
            <a:pPr algn="ctr"/>
            <a:r>
              <a:rPr sz="1100" b="0">
                <a:solidFill>
                  <a:srgbClr val="6B7A90"/>
                </a:solidFill>
                <a:latin typeface="Consolas"/>
              </a:rPr>
              <a:t>VULN CLASSES</a:t>
            </a:r>
          </a:p>
        </p:txBody>
      </p:sp>
      <p:sp>
        <p:nvSpPr>
          <p:cNvPr id="11" name="TextBox 10"/>
          <p:cNvSpPr txBox="1"/>
          <p:nvPr/>
        </p:nvSpPr>
        <p:spPr>
          <a:xfrm>
            <a:off x="713232" y="3840480"/>
            <a:ext cx="10789920" cy="3840480"/>
          </a:xfrm>
          <a:prstGeom prst="rect">
            <a:avLst/>
          </a:prstGeom>
          <a:noFill/>
        </p:spPr>
        <p:txBody>
          <a:bodyPr wrap="square" anchor="t" lIns="0" rIns="0" tIns="0" bIns="0">
            <a:spAutoFit/>
          </a:bodyPr>
          <a:lstStyle/>
          <a:p>
            <a:pPr>
              <a:spcAft>
                <a:spcPts val="1000"/>
              </a:spcAft>
            </a:pPr>
            <a:r>
              <a:rPr sz="1700" b="1">
                <a:solidFill>
                  <a:srgbClr val="22D3EE"/>
                </a:solidFill>
                <a:latin typeface="Segoe UI"/>
              </a:rPr>
              <a:t>»  </a:t>
            </a:r>
            <a:r>
              <a:rPr sz="1700" b="0">
                <a:solidFill>
                  <a:srgbClr val="C4D2E4"/>
                </a:solidFill>
                <a:latin typeface="Segoe UI"/>
              </a:rPr>
              <a:t>Engineering: multi-link chaining + deeper exploit composition</a:t>
            </a:r>
          </a:p>
          <a:p>
            <a:pPr>
              <a:spcAft>
                <a:spcPts val="1000"/>
              </a:spcAft>
            </a:pPr>
            <a:r>
              <a:rPr sz="1700" b="1">
                <a:solidFill>
                  <a:srgbClr val="22D3EE"/>
                </a:solidFill>
                <a:latin typeface="Segoe UI"/>
              </a:rPr>
              <a:t>»  </a:t>
            </a:r>
            <a:r>
              <a:rPr sz="1700" b="0">
                <a:solidFill>
                  <a:srgbClr val="C4D2E4"/>
                </a:solidFill>
                <a:latin typeface="Segoe UI"/>
              </a:rPr>
              <a:t>Policy library: ready-made oracles for common stacks</a:t>
            </a:r>
          </a:p>
          <a:p>
            <a:pPr>
              <a:spcAft>
                <a:spcPts val="1000"/>
              </a:spcAft>
            </a:pPr>
            <a:r>
              <a:rPr sz="1700" b="1">
                <a:solidFill>
                  <a:srgbClr val="22D3EE"/>
                </a:solidFill>
                <a:latin typeface="Segoe UI"/>
              </a:rPr>
              <a:t>»  </a:t>
            </a:r>
            <a:r>
              <a:rPr sz="1700" b="0">
                <a:solidFill>
                  <a:srgbClr val="C4D2E4"/>
                </a:solidFill>
                <a:latin typeface="Segoe UI"/>
              </a:rPr>
              <a:t>Integrations: CI/CD gate, ticketing, SIEM export</a:t>
            </a:r>
          </a:p>
          <a:p>
            <a:pPr>
              <a:spcAft>
                <a:spcPts val="1000"/>
              </a:spcAft>
            </a:pPr>
            <a:r>
              <a:rPr sz="1700" b="1">
                <a:solidFill>
                  <a:srgbClr val="22D3EE"/>
                </a:solidFill>
                <a:latin typeface="Segoe UI"/>
              </a:rPr>
              <a:t>»  </a:t>
            </a:r>
            <a:r>
              <a:rPr sz="1700" b="0">
                <a:solidFill>
                  <a:srgbClr val="C4D2E4"/>
                </a:solidFill>
                <a:latin typeface="Segoe UI"/>
              </a:rPr>
              <a:t>Design partners: regulated, air-gap-first customers</a:t>
            </a:r>
          </a:p>
          <a:p>
            <a:pPr>
              <a:spcAft>
                <a:spcPts val="1000"/>
              </a:spcAft>
            </a:pPr>
            <a:r>
              <a:rPr sz="1700" b="1">
                <a:solidFill>
                  <a:srgbClr val="22D3EE"/>
                </a:solidFill>
                <a:latin typeface="Segoe UI"/>
              </a:rPr>
              <a:t>»  </a:t>
            </a:r>
            <a:r>
              <a:rPr sz="1700" b="0">
                <a:solidFill>
                  <a:srgbClr val="C4D2E4"/>
                </a:solidFill>
                <a:latin typeface="Segoe UI"/>
              </a:rPr>
              <a:t>Outcome: from autonomous finder to autonomous fixer</a:t>
            </a:r>
          </a:p>
        </p:txBody>
      </p:sp>
      <p:sp>
        <p:nvSpPr>
          <p:cNvPr id="12" name="TextBox 11"/>
          <p:cNvSpPr txBox="1"/>
          <p:nvPr/>
        </p:nvSpPr>
        <p:spPr>
          <a:xfrm>
            <a:off x="566928" y="6382512"/>
            <a:ext cx="8229600" cy="365760"/>
          </a:xfrm>
          <a:prstGeom prst="rect">
            <a:avLst/>
          </a:prstGeom>
          <a:noFill/>
        </p:spPr>
        <p:txBody>
          <a:bodyPr wrap="square" anchor="t" lIns="0" rIns="0" tIns="0" bIns="0">
            <a:spAutoFit/>
          </a:bodyPr>
          <a:lstStyle/>
          <a:p>
            <a:r>
              <a:rPr sz="1000" b="1">
                <a:solidFill>
                  <a:srgbClr val="22D3EE"/>
                </a:solidFill>
                <a:latin typeface="Consolas"/>
              </a:rPr>
              <a:t>SENTINEL</a:t>
            </a:r>
            <a:r>
              <a:rPr sz="1000" b="0">
                <a:solidFill>
                  <a:srgbClr val="6B7A90"/>
                </a:solidFill>
                <a:latin typeface="Consolas"/>
              </a:rPr>
              <a:t>   ·   find → reason → prove → patch → prove</a:t>
            </a:r>
          </a:p>
        </p:txBody>
      </p:sp>
      <p:sp>
        <p:nvSpPr>
          <p:cNvPr id="13" name="TextBox 12"/>
          <p:cNvSpPr txBox="1"/>
          <p:nvPr/>
        </p:nvSpPr>
        <p:spPr>
          <a:xfrm>
            <a:off x="10789920" y="6382512"/>
            <a:ext cx="914400" cy="365760"/>
          </a:xfrm>
          <a:prstGeom prst="rect">
            <a:avLst/>
          </a:prstGeom>
          <a:noFill/>
        </p:spPr>
        <p:txBody>
          <a:bodyPr wrap="square" anchor="t" lIns="0" rIns="0" tIns="0" bIns="0">
            <a:spAutoFit/>
          </a:bodyPr>
          <a:lstStyle/>
          <a:p>
            <a:pPr algn="r"/>
            <a:r>
              <a:rPr sz="1000" b="0">
                <a:solidFill>
                  <a:srgbClr val="6B7A90"/>
                </a:solidFill>
                <a:latin typeface="Consolas"/>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_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14600"/>
            <a:ext cx="10362895" cy="1371600"/>
          </a:xfrm>
          <a:prstGeom prst="rect">
            <a:avLst/>
          </a:prstGeom>
          <a:noFill/>
        </p:spPr>
        <p:txBody>
          <a:bodyPr wrap="square" anchor="ctr" lIns="0" rIns="0" tIns="0" bIns="0">
            <a:spAutoFit/>
          </a:bodyPr>
          <a:lstStyle/>
          <a:p>
            <a:pPr algn="ctr"/>
            <a:r>
              <a:rPr sz="4000" b="1">
                <a:solidFill>
                  <a:srgbClr val="EAF2FF"/>
                </a:solidFill>
                <a:latin typeface="Consolas"/>
              </a:rPr>
              <a:t>Reason. Prove. Remediate.</a:t>
            </a:r>
          </a:p>
        </p:txBody>
      </p:sp>
      <p:pic>
        <p:nvPicPr>
          <p:cNvPr id="4" name="Picture 3" descr="deck_rule.png"/>
          <p:cNvPicPr>
            <a:picLocks noChangeAspect="1"/>
          </p:cNvPicPr>
          <p:nvPr/>
        </p:nvPicPr>
        <p:blipFill>
          <a:blip r:embed="rId3"/>
          <a:stretch>
            <a:fillRect/>
          </a:stretch>
        </p:blipFill>
        <p:spPr>
          <a:xfrm>
            <a:off x="4541367" y="3977639"/>
            <a:ext cx="3108960" cy="56692"/>
          </a:xfrm>
          <a:prstGeom prst="rect">
            <a:avLst/>
          </a:prstGeom>
        </p:spPr>
      </p:pic>
      <p:sp>
        <p:nvSpPr>
          <p:cNvPr id="5" name="TextBox 4"/>
          <p:cNvSpPr txBox="1"/>
          <p:nvPr/>
        </p:nvSpPr>
        <p:spPr>
          <a:xfrm>
            <a:off x="914400" y="4160520"/>
            <a:ext cx="10362895" cy="731520"/>
          </a:xfrm>
          <a:prstGeom prst="rect">
            <a:avLst/>
          </a:prstGeom>
          <a:noFill/>
        </p:spPr>
        <p:txBody>
          <a:bodyPr wrap="square" anchor="t" lIns="0" rIns="0" tIns="0" bIns="0">
            <a:spAutoFit/>
          </a:bodyPr>
          <a:lstStyle/>
          <a:p>
            <a:pPr algn="ctr"/>
            <a:r>
              <a:rPr sz="1800" b="0">
                <a:solidFill>
                  <a:srgbClr val="22D3EE"/>
                </a:solidFill>
                <a:latin typeface="Consolas"/>
              </a:rPr>
              <a:t>Autonomous security you can actually trust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